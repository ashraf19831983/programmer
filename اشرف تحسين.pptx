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6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ROUGE Scores by Algorithm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ROUGE-1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TF-IDF</c:v>
                </c:pt>
                <c:pt idx="1">
                  <c:v>TextRank</c:v>
                </c:pt>
                <c:pt idx="2">
                  <c:v>LSA</c:v>
                </c:pt>
                <c:pt idx="3">
                  <c:v>Frequency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0.87990000000000002</c:v>
                </c:pt>
                <c:pt idx="1">
                  <c:v>0.84989999999999999</c:v>
                </c:pt>
                <c:pt idx="2">
                  <c:v>0.81979999999999997</c:v>
                </c:pt>
                <c:pt idx="3">
                  <c:v>0.82630000000000003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C7-460C-880D-B396511FEC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ROUGE-2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TF-IDF</c:v>
                </c:pt>
                <c:pt idx="1">
                  <c:v>TextRank</c:v>
                </c:pt>
                <c:pt idx="2">
                  <c:v>LSA</c:v>
                </c:pt>
                <c:pt idx="3">
                  <c:v>Frequency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0.84819999999999995</c:v>
                </c:pt>
                <c:pt idx="1">
                  <c:v>0.81989999999999996</c:v>
                </c:pt>
                <c:pt idx="2">
                  <c:v>0.78069999999999995</c:v>
                </c:pt>
                <c:pt idx="3">
                  <c:v>0.78739999999999999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C7-460C-880D-B396511FECE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ROUGE-L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TF-IDF</c:v>
                </c:pt>
                <c:pt idx="1">
                  <c:v>TextRank</c:v>
                </c:pt>
                <c:pt idx="2">
                  <c:v>LSA</c:v>
                </c:pt>
                <c:pt idx="3">
                  <c:v>Frequency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0.87990000000000002</c:v>
                </c:pt>
                <c:pt idx="1">
                  <c:v>0.84989999999999999</c:v>
                </c:pt>
                <c:pt idx="2">
                  <c:v>0.81979999999999997</c:v>
                </c:pt>
                <c:pt idx="3">
                  <c:v>0.82630000000000003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8C7-460C-880D-B396511FEC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2D8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2"/>
          <c:min val="0.75"/>
        </c:scaling>
        <c:delete val="0"/>
        <c:axPos val="l"/>
        <c:majorGridlines>
          <c:spPr>
            <a:ln w="6350" cap="flat">
              <a:solidFill>
                <a:srgbClr val="2632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2D8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3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 b="1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C355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Topic Coverage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Topic Coverage</c:v>
                </c:pt>
              </c:strCache>
            </c:strRef>
          </c:tx>
          <c:spPr>
            <a:solidFill>
              <a:srgbClr val="FFB3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TF-IDF</c:v>
                </c:pt>
                <c:pt idx="1">
                  <c:v>TextRank</c:v>
                </c:pt>
                <c:pt idx="2">
                  <c:v>LSA</c:v>
                </c:pt>
                <c:pt idx="3">
                  <c:v>Frequency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0.91110000000000002</c:v>
                </c:pt>
                <c:pt idx="1">
                  <c:v>0.82220000000000004</c:v>
                </c:pt>
                <c:pt idx="2">
                  <c:v>0.77780000000000005</c:v>
                </c:pt>
                <c:pt idx="3">
                  <c:v>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97-430B-A557-BD4A36A312C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2D8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5"/>
          <c:min val="0.7"/>
        </c:scaling>
        <c:delete val="0"/>
        <c:axPos val="l"/>
        <c:majorGridlines>
          <c:spPr>
            <a:ln w="6350" cap="flat">
              <a:solidFill>
                <a:srgbClr val="2632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2D8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C355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Processing Time (ms)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E5393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TF-IDF</c:v>
                </c:pt>
                <c:pt idx="1">
                  <c:v>TextRank</c:v>
                </c:pt>
                <c:pt idx="2">
                  <c:v>LSA</c:v>
                </c:pt>
                <c:pt idx="3">
                  <c:v>Frequency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8.4</c:v>
                </c:pt>
                <c:pt idx="1">
                  <c:v>9.6</c:v>
                </c:pt>
                <c:pt idx="2">
                  <c:v>6.2</c:v>
                </c:pt>
                <c:pt idx="3">
                  <c:v>1.4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68-4682-8634-8917DF721E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2D8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23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2D8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2743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C35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2543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9728"/>
            <a:ext cx="91440" cy="4809744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743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00"/>
                </a:solidFill>
              </a:rPr>
              <a:t>IEEE-Style Technical Report  |  2025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00553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Text Summarization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" y="143526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Extractive NLP Algorithms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2201094"/>
            <a:ext cx="5029200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063240"/>
            <a:ext cx="5029200" cy="1280160"/>
          </a:xfrm>
          <a:prstGeom prst="rect">
            <a:avLst/>
          </a:prstGeom>
          <a:solidFill>
            <a:srgbClr val="12263E"/>
          </a:solidFill>
          <a:ln w="12700">
            <a:solidFill>
              <a:srgbClr val="1226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705" y="324165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Ashraf Tahseen Ali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B2D8D8"/>
                </a:solidFill>
              </a:rPr>
              <a:t>Third Stage (c) </a:t>
            </a:r>
            <a:r>
              <a:rPr lang="en-US" sz="1600" b="1" dirty="0">
                <a:solidFill>
                  <a:srgbClr val="FFFFFF"/>
                </a:solidFill>
              </a:rPr>
              <a:t>
</a:t>
            </a:r>
            <a:r>
              <a:rPr lang="en-US" sz="1200" dirty="0">
                <a:solidFill>
                  <a:srgbClr val="B2D8D8"/>
                </a:solidFill>
              </a:rPr>
              <a:t>Department of Computer Engineer|  </a:t>
            </a:r>
            <a:r>
              <a:rPr lang="en-US" sz="1200" dirty="0" err="1">
                <a:solidFill>
                  <a:srgbClr val="B2D8D8"/>
                </a:solidFill>
              </a:rPr>
              <a:t>Farabi</a:t>
            </a:r>
            <a:r>
              <a:rPr lang="en-US" sz="1200" dirty="0">
                <a:solidFill>
                  <a:srgbClr val="B2D8D8"/>
                </a:solidFill>
              </a:rPr>
              <a:t> University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B2D8D8"/>
                </a:solidFill>
              </a:rPr>
              <a:t>238200012057@alfarabiuc.edu.iq 
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69280" y="3154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315468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A69A"/>
                </a:solidFill>
              </a:rPr>
              <a:t>NLP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12280" y="3154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15468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A69A"/>
                </a:solidFill>
              </a:rPr>
              <a:t>Sum</a:t>
            </a:r>
            <a:r>
              <a:rPr lang="en-US" sz="1050" dirty="0">
                <a:solidFill>
                  <a:srgbClr val="26A69A"/>
                </a:solidFill>
              </a:rPr>
              <a:t>marization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955280" y="3154680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315468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6A69A"/>
                </a:solidFill>
              </a:rPr>
              <a:t>TF-IDF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36301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63016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A69A"/>
                </a:solidFill>
              </a:rPr>
              <a:t>TextRank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12280" y="36301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363016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A69A"/>
                </a:solidFill>
              </a:rPr>
              <a:t>LSA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955280" y="363016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1C3F60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55280" y="363016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6A69A"/>
                </a:solidFill>
              </a:rPr>
              <a:t>ROUGE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</a:rPr>
              <a:t>© 2025  |  Department of Computer Science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2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4114800" cy="1005840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61872"/>
            <a:ext cx="54864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2064" y="13350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24712" y="13533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4712" y="17373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Problem statement, motivation, objectives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414016"/>
            <a:ext cx="4114800" cy="1005840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2414016"/>
            <a:ext cx="54864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48716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24712" y="2505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Related Work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24712" y="288950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Frequency, TF-IDF, TextRank, LSA literature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3566160"/>
            <a:ext cx="4114800" cy="1005840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566160"/>
            <a:ext cx="54864" cy="1005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363931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897B"/>
                </a:solidFill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24712" y="3657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System Architecture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24712" y="40416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9-stage modular processing pipeline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261872"/>
            <a:ext cx="4114800" cy="1005840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261872"/>
            <a:ext cx="54864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33502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13533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Algorithms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532120" y="1737360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Pseudo-code for all 4 extractive methods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414016"/>
            <a:ext cx="4114800" cy="1005840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414016"/>
            <a:ext cx="54864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248716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532120" y="250545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Experimental Results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2889504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ROUGE metrics, comparison table &amp; chart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3566160"/>
            <a:ext cx="4114800" cy="1005840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566160"/>
            <a:ext cx="54864" cy="100584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19472" y="363931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B300"/>
                </a:solidFill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532120" y="36576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Discussion &amp; Conclusion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32120" y="404164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Findings, limitations, future directions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I. INTRO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06222" y="1261872"/>
            <a:ext cx="2560320" cy="1508760"/>
          </a:xfrm>
          <a:prstGeom prst="rect">
            <a:avLst/>
          </a:prstGeom>
          <a:solidFill>
            <a:srgbClr val="0D2E1F"/>
          </a:solidFill>
          <a:ln w="12700">
            <a:solidFill>
              <a:srgbClr val="0D2E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7160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0897B"/>
                </a:solidFill>
              </a:rPr>
              <a:t>90%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47472" y="19933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D8D8"/>
                </a:solidFill>
              </a:rPr>
              <a:t>of internet 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2D8D8"/>
                </a:solidFill>
              </a:rPr>
              <a:t>is unstructured 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261872"/>
            <a:ext cx="5486400" cy="111556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261872"/>
            <a:ext cx="64008" cy="111556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335024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</a:rPr>
              <a:t>Challenge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Low">
              <a:buNone/>
            </a:pPr>
            <a:r>
              <a:rPr lang="en-US" sz="1400" dirty="0">
                <a:solidFill>
                  <a:srgbClr val="B2D8D8"/>
                </a:solidFill>
              </a:rPr>
              <a:t>Explosive growth of digital textual data creates bottleneck in knowledge </a:t>
            </a:r>
            <a:r>
              <a:rPr lang="en-US" sz="1400" dirty="0">
                <a:solidFill>
                  <a:srgbClr val="B2D8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consumption</a:t>
            </a:r>
            <a:r>
              <a:rPr lang="en-US" sz="1400" dirty="0">
                <a:solidFill>
                  <a:srgbClr val="B2D8D8"/>
                </a:solidFill>
              </a:rPr>
              <a:t>. Manual summarization is time-consuming and subjective.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46120" y="2505456"/>
            <a:ext cx="5486400" cy="111556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2505456"/>
            <a:ext cx="64008" cy="111556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57860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</a:rPr>
              <a:t>Objective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29000" y="2889504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Low"/>
            <a:r>
              <a:rPr lang="en-US" sz="1400" dirty="0">
                <a:solidFill>
                  <a:srgbClr val="B2D8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 bilingual (Arabic–English) extractive NLP system benchmarking four algorithms: TF-IDF, TextRank, LSA, and Frequency-Based scoring.</a:t>
            </a:r>
          </a:p>
        </p:txBody>
      </p:sp>
      <p:sp>
        <p:nvSpPr>
          <p:cNvPr id="19" name="Shape 17"/>
          <p:cNvSpPr/>
          <p:nvPr/>
        </p:nvSpPr>
        <p:spPr>
          <a:xfrm>
            <a:off x="3246120" y="3749040"/>
            <a:ext cx="5486400" cy="111556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3749040"/>
            <a:ext cx="64008" cy="1115568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3822192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935"/>
                </a:solidFill>
              </a:rPr>
              <a:t>Scope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429000" y="4133088"/>
            <a:ext cx="52120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Low">
              <a:buNone/>
            </a:pPr>
            <a:r>
              <a:rPr lang="en-US" sz="1400" dirty="0">
                <a:solidFill>
                  <a:srgbClr val="B2D8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45-sentence English corpus, 30% summary ratio, six evaluation dimensions including ROUGE-1/2/L, Topic Coverage, and Key-Fact Retention.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II. RELATED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4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80160"/>
            <a:ext cx="4206240" cy="1627632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89888"/>
            <a:ext cx="475488" cy="475488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0704" y="13716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300"/>
                </a:solidFill>
              </a:rPr>
              <a:t>Frequency-Based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0704" y="1691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Luhn (</a:t>
            </a:r>
            <a:r>
              <a:rPr lang="en-US" sz="1050" i="1" dirty="0">
                <a:solidFill>
                  <a:srgbClr val="546E7A"/>
                </a:solidFill>
              </a:rPr>
              <a:t>1958</a:t>
            </a:r>
            <a:r>
              <a:rPr lang="en-US" sz="900" i="1" dirty="0">
                <a:solidFill>
                  <a:srgbClr val="546E7A"/>
                </a:solidFill>
              </a:rPr>
              <a:t>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" y="202996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Low">
              <a:buNone/>
            </a:pPr>
            <a:r>
              <a:rPr lang="en-US" sz="1200" dirty="0">
                <a:solidFill>
                  <a:srgbClr val="B2D8D8"/>
                </a:solidFill>
              </a:rPr>
              <a:t>Sentences with high-frequency important words carry more information. Foundation of all statistical summarization.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82312" y="1280160"/>
            <a:ext cx="4206240" cy="1627632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92040" y="1389888"/>
            <a:ext cx="475488" cy="475488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95544" y="137160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</a:rPr>
              <a:t>TF-IDF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95544" y="169164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Salton &amp; McGill (1983)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9472" y="202996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8"/>
                </a:solidFill>
              </a:rPr>
              <a:t>Term Frequency × Inverse Document Frequency discounts common terms while rewarding document-specific vocabulary.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" y="3063240"/>
            <a:ext cx="4206240" cy="1627632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172968"/>
            <a:ext cx="475488" cy="47548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72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" y="315468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3935"/>
                </a:solidFill>
              </a:rPr>
              <a:t>TextRank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60704" y="3474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46E7A"/>
                </a:solidFill>
              </a:rPr>
              <a:t>Mihalcea</a:t>
            </a:r>
            <a:r>
              <a:rPr lang="en-US" sz="900" i="1" dirty="0">
                <a:solidFill>
                  <a:srgbClr val="546E7A"/>
                </a:solidFill>
              </a:rPr>
              <a:t> &amp; Tarau (2004)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" y="3813048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8"/>
                </a:solidFill>
              </a:rPr>
              <a:t>Adapts PageRank to sentence-similarity graphs. Captures inter-sentence thematic centrality via graph propagation.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82312" y="3063240"/>
            <a:ext cx="4206240" cy="1627632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92040" y="3172968"/>
            <a:ext cx="475488" cy="47548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1729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95544" y="315468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B47BC"/>
                </a:solidFill>
              </a:rPr>
              <a:t>LSA</a:t>
            </a:r>
            <a:r>
              <a:rPr lang="en-US" sz="1300" b="1" dirty="0">
                <a:solidFill>
                  <a:srgbClr val="AB47BC"/>
                </a:solidFill>
              </a:rPr>
              <a:t> / </a:t>
            </a:r>
            <a:r>
              <a:rPr lang="en-US" sz="1600" b="1" dirty="0">
                <a:solidFill>
                  <a:srgbClr val="AB47BC"/>
                </a:solidFill>
              </a:rPr>
              <a:t>SVD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95544" y="347472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</a:rPr>
              <a:t>Gong &amp; Liu (2001)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19472" y="3813048"/>
            <a:ext cx="40416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2D8D8"/>
                </a:solidFill>
              </a:rPr>
              <a:t>Truncated</a:t>
            </a:r>
            <a:r>
              <a:rPr lang="en-US" sz="1050" dirty="0">
                <a:solidFill>
                  <a:srgbClr val="B2D8D8"/>
                </a:solidFill>
              </a:rPr>
              <a:t> </a:t>
            </a:r>
            <a:r>
              <a:rPr lang="en-US" sz="1200" dirty="0">
                <a:solidFill>
                  <a:srgbClr val="B2D8D8"/>
                </a:solidFill>
              </a:rPr>
              <a:t>SVD exposes latent semantic dimensions. Optimal for heterogeneous multi-topic corpora</a:t>
            </a:r>
            <a:r>
              <a:rPr lang="en-US" sz="1050" dirty="0">
                <a:solidFill>
                  <a:srgbClr val="B2D8D8"/>
                </a:solidFill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III. ARCH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9-Stage Pipeline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5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9728" y="1298448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" y="1298448"/>
            <a:ext cx="1664208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14264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897B"/>
                </a:solidFill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" y="1773936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Input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82880" y="2304288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DOCX · PDF · TXT · Paste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73936" y="2039112"/>
            <a:ext cx="118872" cy="0"/>
          </a:xfrm>
          <a:prstGeom prst="line">
            <a:avLst/>
          </a:prstGeom>
          <a:noFill/>
          <a:ln w="25400">
            <a:solidFill>
              <a:srgbClr val="0089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92808" y="1298448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92808" y="1298448"/>
            <a:ext cx="1664208" cy="914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92808" y="14264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CC1"/>
                </a:solidFill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65960" y="1773936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Language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Detection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304288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Arabic ratio &gt; 20%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557016" y="2039112"/>
            <a:ext cx="118872" cy="0"/>
          </a:xfrm>
          <a:prstGeom prst="line">
            <a:avLst/>
          </a:prstGeom>
          <a:noFill/>
          <a:ln w="25400">
            <a:solidFill>
              <a:srgbClr val="00AC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75888" y="1298448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5888" y="1298448"/>
            <a:ext cx="1664208" cy="91440"/>
          </a:xfrm>
          <a:prstGeom prst="rect">
            <a:avLst/>
          </a:prstGeom>
          <a:solidFill>
            <a:srgbClr val="039BE5"/>
          </a:solidFill>
          <a:ln w="12700">
            <a:solidFill>
              <a:srgbClr val="039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5888" y="14264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39BE5"/>
                </a:solidFill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749040" y="1773936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Preprocessing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0" y="2304288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Normalise · Stop-words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40096" y="2039112"/>
            <a:ext cx="118872" cy="0"/>
          </a:xfrm>
          <a:prstGeom prst="line">
            <a:avLst/>
          </a:prstGeom>
          <a:noFill/>
          <a:ln w="25400">
            <a:solidFill>
              <a:srgbClr val="039B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58968" y="1298448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458968" y="1298448"/>
            <a:ext cx="1664208" cy="914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58968" y="14264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88E5"/>
                </a:solidFill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532120" y="1773936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Sentence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Splitting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32120" y="2304288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Regex · min 20 chars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123176" y="2039112"/>
            <a:ext cx="118872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242048" y="1298448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42048" y="1298448"/>
            <a:ext cx="1664208" cy="9144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42048" y="14264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949AB"/>
                </a:solidFill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0" y="1773936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TF-IDF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Vectorise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15200" y="2304288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2,000 features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74152" y="2779776"/>
            <a:ext cx="0" cy="182880"/>
          </a:xfrm>
          <a:prstGeom prst="line">
            <a:avLst/>
          </a:prstGeom>
          <a:noFill/>
          <a:ln w="25400">
            <a:solidFill>
              <a:srgbClr val="3949A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9728" y="2962656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" y="2962656"/>
            <a:ext cx="1664208" cy="91440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9728" y="30906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E35B1"/>
                </a:solidFill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82880" y="34381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Algorithm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Execution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82880" y="3968496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4 methods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773936" y="3703320"/>
            <a:ext cx="118872" cy="0"/>
          </a:xfrm>
          <a:prstGeom prst="line">
            <a:avLst/>
          </a:prstGeom>
          <a:noFill/>
          <a:ln w="25400">
            <a:solidFill>
              <a:srgbClr val="5E35B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892808" y="2962656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92808" y="2962656"/>
            <a:ext cx="1664208" cy="91440"/>
          </a:xfrm>
          <a:prstGeom prst="rect">
            <a:avLst/>
          </a:prstGeom>
          <a:solidFill>
            <a:srgbClr val="8E24AA"/>
          </a:solidFill>
          <a:ln w="12700">
            <a:solidFill>
              <a:srgbClr val="8E2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892808" y="30906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E24AA"/>
                </a:solidFill>
              </a:rPr>
              <a:t>07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965960" y="34381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Ranking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&amp; Select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965960" y="3968496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Top-N sentences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557016" y="3703320"/>
            <a:ext cx="118872" cy="0"/>
          </a:xfrm>
          <a:prstGeom prst="line">
            <a:avLst/>
          </a:prstGeom>
          <a:noFill/>
          <a:ln w="25400">
            <a:solidFill>
              <a:srgbClr val="8E24A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75888" y="2962656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75888" y="2962656"/>
            <a:ext cx="1664208" cy="91440"/>
          </a:xfrm>
          <a:prstGeom prst="rect">
            <a:avLst/>
          </a:prstGeom>
          <a:solidFill>
            <a:srgbClr val="D81B60"/>
          </a:solidFill>
          <a:ln w="12700">
            <a:solidFill>
              <a:srgbClr val="D81B6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75888" y="30906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81B60"/>
                </a:solidFill>
              </a:rPr>
              <a:t>08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749040" y="34381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749040" y="3968496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ROUGE · TC · KFR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340096" y="3703320"/>
            <a:ext cx="118872" cy="0"/>
          </a:xfrm>
          <a:prstGeom prst="line">
            <a:avLst/>
          </a:prstGeom>
          <a:noFill/>
          <a:ln w="25400">
            <a:solidFill>
              <a:srgbClr val="D81B6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58968" y="2962656"/>
            <a:ext cx="1664208" cy="1481328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58968" y="2962656"/>
            <a:ext cx="1664208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58968" y="309067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53935"/>
                </a:solidFill>
              </a:rPr>
              <a:t>09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532120" y="3438144"/>
            <a:ext cx="15179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Output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&amp; Export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532120" y="3968496"/>
            <a:ext cx="1517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2D8D8"/>
                </a:solidFill>
              </a:rPr>
              <a:t>DOCX · PDF · GUI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IV. ALGO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Main Summarization Control Flow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6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8449056" cy="374904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61872"/>
            <a:ext cx="54864" cy="37490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4416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Document D,  ratio r,  algorithm 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50418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Summary S,  Metrics 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66420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182422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 ─  Document Ingestion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198424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Load D  →  extract raw_text (DOCX|PDF|TXT)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214426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30428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 ─  Language Detection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46430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 arabic_chars / len(text) &gt; 0.20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262432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lang ← 'arabic'   ELSE  lang ← 'english'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278434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94436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 ─  Preprocessing + Sentence Splitting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310438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normalise(text, lang)  →  remove stop-words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26440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sentences ← regex_split(text)  |len ≥ 20 chars|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42442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58444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 ─  Vectorise → Execute → Rank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374446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← TfidfVectorizer(sentences, max_features=2000)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390448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← Algorithm_A(A, sentences)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406450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summary ← top-N by score  [N = ⌈m × r⌉]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22452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438454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5  ─  Evaluate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54456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← compute_metrics(summary, source)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4704588"/>
            <a:ext cx="822960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 summary,  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Extractive Algorithm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FFB3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7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4069080" cy="1115568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</a:rPr>
              <a:t>Key Formula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TF-IDF(t,s) = TF(t,s) × log( N / DF(t) 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score(sᵢ) = mean( TF-IDF(t,sᵢ)  for all t 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4505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TF = frequency of t in sentence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7066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DF = sentences containing 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9626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</a:rPr>
              <a:t>N = total sentences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133088" cy="365760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234440"/>
            <a:ext cx="54864" cy="36576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3167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sentences S[1..m],  ratio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5224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Top-N summary sentences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17282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19339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─ Vectorise: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1396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← TfidfVectorizer(S, max_features=2000)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3454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5511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─ Score each sentence: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7569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= 1 TO m: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9626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score[i] ← mean( A[i][j]  where A[i][j] &gt; 0 )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1683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3741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─ Select top-N: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5798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← ceiling( m × r 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7856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selected ← argsort(score, desc)[:N]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39913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1970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─ Restore original order: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44028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 sentences[ sort(selected) 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3291840"/>
            <a:ext cx="4069080" cy="1554480"/>
          </a:xfrm>
          <a:prstGeom prst="rect">
            <a:avLst/>
          </a:prstGeom>
          <a:solidFill>
            <a:srgbClr val="1A2E1A"/>
          </a:solidFill>
          <a:ln w="12700">
            <a:solidFill>
              <a:srgbClr val="1A2E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300"/>
                </a:solidFill>
              </a:rPr>
              <a:t>Performance Highlights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3730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ROUGE-1: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76272" y="37307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</a:rPr>
              <a:t>0.8799 ✦ Best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3986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Topic Coverage: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76272" y="398678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</a:rPr>
              <a:t>0.9111 ✦ Best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2428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Key-Fact Ret.: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76272" y="424281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</a:rPr>
              <a:t>1.0000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2920" y="44988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Latency: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76272" y="44988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</a:rPr>
              <a:t>8.4 ms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 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TextRank — Graph-Based PageRank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26A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8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4069080" cy="1280160"/>
          </a:xfrm>
          <a:prstGeom prst="rect">
            <a:avLst/>
          </a:prstGeom>
          <a:solidFill>
            <a:srgbClr val="0D2E2E"/>
          </a:solidFill>
          <a:ln w="12700">
            <a:solidFill>
              <a:srgbClr val="0D2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</a:rPr>
              <a:t>PageRank Formula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572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PR(sᵢ) = (1−d) + d × Σⱼ [ w(i,j) / Σₖ w(j,k) ] × PR(sⱼ)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D8D8"/>
                </a:solidFill>
              </a:rPr>
              <a:t>d = 0.85 (damping)  |  convergence: |Δscore|₁ &lt; 0.0001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408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Cosine similarity:  w(i,j) = A[i]·A[j] / (|A[i]| × |A[j]|)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33088" cy="365760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34440"/>
            <a:ext cx="54864" cy="365760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167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sentences S[1..m],  ratio 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5224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PageRank-top-N sentences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282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9339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─ Build TF-IDF vectors: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1396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← TfidfVectorizer(S)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3454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5511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─ Build similarity graph: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7569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i,j in all pairs (i ≠ j):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9626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w[i][j] ← cosine( A[i], A[j] 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1683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w &gt; 0: graph.add_edge(i, j, w)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3741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5798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─ Run PageRank: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7856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 ← networkx.pagerank(graph, alpha=0.85)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9913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max_iter=200, tol=1e-4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1970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4028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A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─ Select &amp; return: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6085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top-N by score (original order)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3291840"/>
            <a:ext cx="4069080" cy="1554480"/>
          </a:xfrm>
          <a:prstGeom prst="rect">
            <a:avLst/>
          </a:prstGeom>
          <a:solidFill>
            <a:srgbClr val="0D2E2E"/>
          </a:solidFill>
          <a:ln w="12700">
            <a:solidFill>
              <a:srgbClr val="0D2E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A69A"/>
                </a:solidFill>
              </a:rPr>
              <a:t>Characteristics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730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ROUGE-1: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76272" y="37307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A69A"/>
                </a:solidFill>
              </a:rPr>
              <a:t>0.8499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86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Topic Coverage: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76272" y="398678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A69A"/>
                </a:solidFill>
              </a:rPr>
              <a:t>0.8222 ✦ Strong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2428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Latency: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76272" y="424281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A69A"/>
                </a:solidFill>
              </a:rPr>
              <a:t>9.6 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44988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Best for: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76272" y="44988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A69A"/>
                </a:solidFill>
              </a:rPr>
              <a:t>Multi-theme documents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 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— Latent Semantic Analysis via SVD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AB47B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9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4069080" cy="1417320"/>
          </a:xfrm>
          <a:prstGeom prst="rect">
            <a:avLst/>
          </a:prstGeom>
          <a:solidFill>
            <a:srgbClr val="1F0A2E"/>
          </a:solidFill>
          <a:ln w="12700">
            <a:solidFill>
              <a:srgbClr val="1F0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93D8"/>
                </a:solidFill>
              </a:rPr>
              <a:t>SVD Decomposition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 ≈  U  ×  Σ  ×  Vᵀ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B2D8D8"/>
                </a:solidFill>
              </a:rPr>
              <a:t>k = min(10, m−1, n−1)  singular values retained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3042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score(sᵢ) = ||U[i]||₂ = √( Σⱼ U[i][j]² 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33088" cy="365760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34440"/>
            <a:ext cx="54864" cy="365760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167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matrix A ∈ R^(m×n),  ratio 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5224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semantically diverse summary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282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9339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─ Build TF-IDF matrix: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1396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← TfidfVectorizer(S, max_features=2000)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3454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5511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─ Truncated SVD: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7569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 ← min(10, m-1, n-1)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9626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U, Σ, Vᵀ ← TruncatedSVD(A, n_components=k)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1683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 ∈ R^(m×k) = sentence latent space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3741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5798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─ Euclidean norm score: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7856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= 1 TO m: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9913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score[i] ← L2_norm( U[i] 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1970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4028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─ Select &amp; return: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6085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top-N by score (original order)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47472" y="3291840"/>
            <a:ext cx="4069080" cy="1554480"/>
          </a:xfrm>
          <a:prstGeom prst="rect">
            <a:avLst/>
          </a:prstGeom>
          <a:solidFill>
            <a:srgbClr val="1F0A2E"/>
          </a:solidFill>
          <a:ln w="12700">
            <a:solidFill>
              <a:srgbClr val="1F0A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364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93D8"/>
                </a:solidFill>
              </a:rPr>
              <a:t>Characteristics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37307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ROUGE-1: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176272" y="373075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3D8"/>
                </a:solidFill>
              </a:rPr>
              <a:t>0.8198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39867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Compression: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76272" y="398678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3D8"/>
                </a:solidFill>
              </a:rPr>
              <a:t>30.5% ✦ Most Compact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24281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Latency: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76272" y="4242816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3D8"/>
                </a:solidFill>
              </a:rPr>
              <a:t>6.2 ms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2920" y="449884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Best for: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76272" y="449884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E93D8"/>
                </a:solidFill>
              </a:rPr>
              <a:t>Multi-topic corpora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ALGO 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Frequency-Based Scoring Algorithm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E539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10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34440"/>
            <a:ext cx="4069080" cy="1188720"/>
          </a:xfrm>
          <a:prstGeom prst="rect">
            <a:avLst/>
          </a:prstGeom>
          <a:solidFill>
            <a:srgbClr val="2E0D0D"/>
          </a:solidFill>
          <a:ln w="12700">
            <a:solidFill>
              <a:srgbClr val="2E0D0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</a:rPr>
              <a:t>Normalised Frequency Formula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7276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freq_n(t) = count(t) / max_count(t)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score(sᵢ) = mean( freq_n(t)  for t ∈ sᵢ 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B2D8D8"/>
                </a:solidFill>
              </a:rPr>
              <a:t>freq_n(t) ∈ [0, 1]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133088" cy="365760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234440"/>
            <a:ext cx="54864" cy="365760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167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sentences S[1..m],  ratio 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5224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2D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Frequency-scored summary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17282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9339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─ Count all tokens: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00600" y="21396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← frequency_map(all tokens in 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3454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max_c ← max( count.values() 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5511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7569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─ Normalise: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9626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token t: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1683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freq_n[t] ← count[t] / max_c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3741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5798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─ Score each sentence: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7856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 = 1 TO m: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399135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toks ← tokenise( S[i] 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419709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score[i] ← mean( freq_n[t] for t in toks 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40283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460857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F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─ Select &amp; return: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4814316"/>
            <a:ext cx="3886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top-N by score (original order)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3337560"/>
            <a:ext cx="4069080" cy="1508760"/>
          </a:xfrm>
          <a:prstGeom prst="rect">
            <a:avLst/>
          </a:prstGeom>
          <a:solidFill>
            <a:srgbClr val="2E0D0D"/>
          </a:solidFill>
          <a:ln w="12700">
            <a:solidFill>
              <a:srgbClr val="2E0D0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3401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9A9A"/>
                </a:solidFill>
              </a:rPr>
              <a:t>Key Advantage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37673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ROUGE-1: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176272" y="3767328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9A9A"/>
                </a:solidFill>
              </a:rPr>
              <a:t>0.8263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40233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Latency: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76272" y="4023360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9A9A"/>
                </a:solidFill>
              </a:rPr>
              <a:t>1.4 ms ✦ Fastest (6× faster than TF-IDF)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427939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Complexity: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176272" y="4279392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9A9A"/>
                </a:solidFill>
              </a:rPr>
              <a:t>O(n + m) — linear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02920" y="453542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B2D8D8"/>
                </a:solidFill>
              </a:rPr>
              <a:t>Best for: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176272" y="4535424"/>
            <a:ext cx="2103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9A9A"/>
                </a:solidFill>
              </a:rPr>
              <a:t>Real-time applications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V.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 — Table 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11 / 14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47472" y="1188720"/>
            <a:ext cx="8449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2D8D8"/>
                </a:solidFill>
              </a:rPr>
              <a:t>Corpus: 45 sentences · 5,175 chars · 30% ratio  |  Platform: Python 3.11, scikit-learn 1.8.0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508760"/>
          <a:ext cx="8001000" cy="23774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ROUGE-L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Cov.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Key-Fact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D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Extractive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B3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E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2D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TextRank (Graph)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2D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LSA (Latent Sem.)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B2D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Frequency-Based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CFF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8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47472" y="3977640"/>
            <a:ext cx="4069080" cy="868680"/>
          </a:xfrm>
          <a:prstGeom prst="rect">
            <a:avLst/>
          </a:prstGeom>
          <a:solidFill>
            <a:srgbClr val="0D2E1E"/>
          </a:solidFill>
          <a:ln w="12700">
            <a:solidFill>
              <a:srgbClr val="0D2E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300"/>
                </a:solidFill>
              </a:rPr>
              <a:t>★  Winner: TF-IDF Extractive</a:t>
            </a:r>
            <a:endParaRPr lang="en-US" sz="1300" dirty="0"/>
          </a:p>
        </p:txBody>
      </p:sp>
      <p:sp>
        <p:nvSpPr>
          <p:cNvPr id="9" name="Text 9"/>
          <p:cNvSpPr/>
          <p:nvPr/>
        </p:nvSpPr>
        <p:spPr>
          <a:xfrm>
            <a:off x="502920" y="43434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Composite score W = 0.30×R1 + 0.20×R2 + 0.10×RL + 0.25×TC + 0.15×KFR = 0.899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663440" y="3977640"/>
            <a:ext cx="4133088" cy="868680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4023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A69A"/>
                </a:solidFill>
              </a:rPr>
              <a:t>Quality Gauge — ROUGE-L F1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800600" y="4343400"/>
            <a:ext cx="3840480" cy="256032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800600" y="4343400"/>
            <a:ext cx="3383280" cy="25603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38160" y="43434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B300"/>
                </a:solidFill>
              </a:rPr>
              <a:t>88.0%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V. RESULTS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Visual Comparison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12 / 14</a:t>
            </a:r>
            <a:endParaRPr lang="en-US" sz="900" dirty="0"/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50427835"/>
              </p:ext>
            </p:extLst>
          </p:nvPr>
        </p:nvGraphicFramePr>
        <p:xfrm>
          <a:off x="320040" y="1234439"/>
          <a:ext cx="5303520" cy="34338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5760720" y="1234440"/>
          <a:ext cx="32004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5760720" y="3017520"/>
          <a:ext cx="320040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7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VI. DISCUSS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4490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47472" y="1115568"/>
            <a:ext cx="8449056" cy="0"/>
          </a:xfrm>
          <a:prstGeom prst="line">
            <a:avLst/>
          </a:prstGeom>
          <a:noFill/>
          <a:ln w="19050">
            <a:solidFill>
              <a:srgbClr val="008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13 / 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" y="1261872"/>
            <a:ext cx="8449056" cy="804672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261872"/>
            <a:ext cx="64008" cy="804672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426464"/>
            <a:ext cx="420624" cy="420624"/>
          </a:xfrm>
          <a:prstGeom prst="ellipse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264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13350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</a:rPr>
              <a:t>TF-IDF Dominance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627632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Highest ROUGE because scoring directly optimises term-level salience — aligned with n-gram overlap measurement. ROUGE-1 Precision = 1.000 (zero extraneous vocabulary).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176272"/>
            <a:ext cx="8449056" cy="804672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176272"/>
            <a:ext cx="64008" cy="804672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340864"/>
            <a:ext cx="420624" cy="420624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3408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22494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A69A"/>
                </a:solidFill>
              </a:rPr>
              <a:t>TextRank Trade-off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542032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Graph propagation selects thematically central sentences using synonymous phrasing → lower ROUGE but stronger topic coverage. Preferred for multi-theme documents.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" y="3090672"/>
            <a:ext cx="8449056" cy="804672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090672"/>
            <a:ext cx="64008" cy="804672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255264"/>
            <a:ext cx="420624" cy="420624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552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1638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B47BC"/>
                </a:solidFill>
              </a:rPr>
              <a:t>LSA Compression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3456432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SVD components capture variance-maximising semantic directions → most compact output (30.5%). Lower ROUGE-2 = bigram disruption from cross-cluster selection.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005072"/>
            <a:ext cx="8449056" cy="804672"/>
          </a:xfrm>
          <a:prstGeom prst="rect">
            <a:avLst/>
          </a:prstGeom>
          <a:solidFill>
            <a:srgbClr val="1C3550"/>
          </a:solidFill>
          <a:ln w="12700">
            <a:solidFill>
              <a:srgbClr val="1C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4005072"/>
            <a:ext cx="64008" cy="804672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169664"/>
            <a:ext cx="420624" cy="420624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6966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07822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3935"/>
                </a:solidFill>
              </a:rPr>
              <a:t>Frequency Speed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4370832"/>
            <a:ext cx="7635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1.4 ms latency (6× faster than TF-IDF). Competitive ROUGE-1 = 0.826. Validates Luhn's 1958 insight for technical corpora with focused vocabulary.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4864608"/>
            <a:ext cx="8449056" cy="201168"/>
          </a:xfrm>
          <a:prstGeom prst="rect">
            <a:avLst/>
          </a:prstGeom>
          <a:solidFill>
            <a:srgbClr val="2E1A00"/>
          </a:solidFill>
          <a:ln w="12700">
            <a:solidFill>
              <a:srgbClr val="2E1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7375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FB300"/>
                </a:solidFill>
              </a:rPr>
              <a:t>⚠  Limitation: Single-corpus evaluation · ROUGE correlates imperfectly with human judgment · No abstractive post-processing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46E7A"/>
                </a:solidFill>
              </a:rPr>
              <a:t>14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47472" y="164592"/>
            <a:ext cx="1737360" cy="320040"/>
          </a:xfrm>
          <a:prstGeom prst="roundRect">
            <a:avLst>
              <a:gd name="adj" fmla="val 22857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6459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VII. CONCLUSION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" y="56692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7472" y="1024128"/>
            <a:ext cx="5394960" cy="2331720"/>
          </a:xfrm>
          <a:prstGeom prst="rect">
            <a:avLst/>
          </a:prstGeom>
          <a:solidFill>
            <a:srgbClr val="12263E"/>
          </a:solidFill>
          <a:ln w="12700">
            <a:solidFill>
              <a:srgbClr val="12263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292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6A69A"/>
                </a:solidFill>
              </a:rPr>
              <a:t>Key Findings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219456" cy="21945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55448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Bilingual (Arabic/English) extractive system with 4 NLP algorithms benchmarked.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048256"/>
            <a:ext cx="219456" cy="21945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02996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TF-IDF wins: highest ROUGE-L (0.8799), Topic Coverage (0.9111), composite W = 0.899.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523744"/>
            <a:ext cx="219456" cy="21945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250545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TextRank excels at topic breadth · LSA at compression · Frequency at speed (1.4 ms).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99232"/>
            <a:ext cx="219456" cy="219456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98094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All algorithms achieve Key-Fact Retention = 1.000 at 30% ratio (saturation effect).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47472" y="3520440"/>
            <a:ext cx="5394960" cy="1234440"/>
          </a:xfrm>
          <a:prstGeom prst="rect">
            <a:avLst/>
          </a:prstGeom>
          <a:solidFill>
            <a:srgbClr val="12263E"/>
          </a:solidFill>
          <a:ln w="12700">
            <a:solidFill>
              <a:srgbClr val="1226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8444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</a:rPr>
              <a:t>Future Directions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39136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→  Integrate transformer-based abstractive post-processing.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41879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→  Evaluate on EASC Arabic multi-document benchmark.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4622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8D8"/>
                </a:solidFill>
              </a:rPr>
              <a:t>→  Human-study validation of automated metrics.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115568"/>
            <a:ext cx="2852928" cy="3639312"/>
          </a:xfrm>
          <a:prstGeom prst="rect">
            <a:avLst/>
          </a:prstGeom>
          <a:solidFill>
            <a:srgbClr val="12263E"/>
          </a:solidFill>
          <a:ln w="12700">
            <a:solidFill>
              <a:srgbClr val="1226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170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A69A"/>
                </a:solidFill>
              </a:rPr>
              <a:t>Key References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150876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[1] Lin (2004) — ROUGE evaluation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080760" y="18928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[4] Luhn (1958) — Frequency-based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080760" y="227685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[5] Salton (1983) — TF-IDF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80760" y="266090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[7] Mihalcea (2004) — TextRank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80760" y="3044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[8] Gong &amp; Liu (2001) — LSA/SVD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80760" y="34290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[2] Nenkova (2012) — Survey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80760" y="3813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[6] Pedregosa (2011) — scikit-learn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80760" y="419709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2D8D8"/>
                </a:solidFill>
              </a:rPr>
              <a:t>[3] Gambhir (2017) — Survey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90118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Thank You  |  Questions Welcome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0" y="490118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26A69A"/>
                </a:solidFill>
              </a:rPr>
              <a:t>a.muntazar@university.edu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1903</Words>
  <Application>Microsoft Office PowerPoint</Application>
  <PresentationFormat>عرض على الشاشة (16:9)</PresentationFormat>
  <Paragraphs>346</Paragraphs>
  <Slides>14</Slides>
  <Notes>14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9" baseType="lpstr">
      <vt:lpstr>Arial</vt:lpstr>
      <vt:lpstr>Calibri</vt:lpstr>
      <vt:lpstr>Courier New</vt:lpstr>
      <vt:lpstr>Times New Roman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Automatic Text Summarization Using Extractive NLP Algorithms</dc:title>
  <dc:subject>PptxGenJS Presentation</dc:subject>
  <dc:creator>Ashraf Al-Muntazar</dc:creator>
  <cp:lastModifiedBy>ashraf</cp:lastModifiedBy>
  <cp:revision>3</cp:revision>
  <dcterms:created xsi:type="dcterms:W3CDTF">2026-03-13T11:12:13Z</dcterms:created>
  <dcterms:modified xsi:type="dcterms:W3CDTF">2026-03-13T11:31:27Z</dcterms:modified>
</cp:coreProperties>
</file>