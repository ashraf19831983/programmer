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0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8412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Signature Forgery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8412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BCD4"/>
                </a:solidFill>
              </a:rPr>
              <a:t>Detection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974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CAF9"/>
                </a:solidFill>
              </a:rPr>
              <a:t>Enhanced Edition  —  Feature Engineering &amp; Multi-Classifier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218688"/>
            <a:ext cx="8412480" cy="182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31012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Language: Python 3   |   Libraries: OpenCV · scikit-learn · PIL · tkinter   |   Features: 152   |   Classifiers: SVM · KNN · Naive Bayes + One-Class SVM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840480"/>
            <a:ext cx="2606040" cy="347472"/>
          </a:xfrm>
          <a:prstGeom prst="rect">
            <a:avLst/>
          </a:prstGeom>
          <a:solidFill>
            <a:srgbClr val="0D47A1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384048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CD4"/>
                </a:solidFill>
              </a:rPr>
              <a:t>Biometrics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3840480"/>
            <a:ext cx="2606040" cy="347472"/>
          </a:xfrm>
          <a:prstGeom prst="rect">
            <a:avLst/>
          </a:prstGeom>
          <a:solidFill>
            <a:srgbClr val="0D47A1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0" y="384048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CD4"/>
                </a:solidFill>
              </a:rPr>
              <a:t>Computer Vision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840480"/>
            <a:ext cx="2606040" cy="347472"/>
          </a:xfrm>
          <a:prstGeom prst="rect">
            <a:avLst/>
          </a:prstGeom>
          <a:solidFill>
            <a:srgbClr val="0D47A1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0" y="384048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CD4"/>
                </a:solidFill>
              </a:rPr>
              <a:t>Machine Learning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79392"/>
            <a:ext cx="2606040" cy="347472"/>
          </a:xfrm>
          <a:prstGeom prst="rect">
            <a:avLst/>
          </a:prstGeom>
          <a:solidFill>
            <a:srgbClr val="0D47A1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427939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CD4"/>
                </a:solidFill>
              </a:rPr>
              <a:t>Forgery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4279392"/>
            <a:ext cx="2606040" cy="347472"/>
          </a:xfrm>
          <a:prstGeom prst="rect">
            <a:avLst/>
          </a:prstGeom>
          <a:solidFill>
            <a:srgbClr val="0D47A1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427939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CD4"/>
                </a:solidFill>
              </a:rPr>
              <a:t>Pattern Recognition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4279392"/>
            <a:ext cx="2606040" cy="347472"/>
          </a:xfrm>
          <a:prstGeom prst="rect">
            <a:avLst/>
          </a:prstGeom>
          <a:solidFill>
            <a:srgbClr val="0D47A1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40" y="427939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CD4"/>
                </a:solidFill>
              </a:rPr>
              <a:t>Image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10972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046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45720"/>
            <a:ext cx="1005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90CA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4160520" cy="361188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078992"/>
            <a:ext cx="4160520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7472" y="1115568"/>
            <a:ext cx="40142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499616"/>
            <a:ext cx="3959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Handwritten signature forgery poses critical threats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126894"/>
            <a:ext cx="3959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Banking &amp; financial transactions at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754172"/>
            <a:ext cx="3959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Legal &amp; notarial documents can be forged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381451"/>
            <a:ext cx="3959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Government / civil registration vulnerabilities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4008729"/>
            <a:ext cx="3959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Skilled forgers defeat human inspectors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1078992"/>
            <a:ext cx="4160520" cy="361188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09160" y="1078992"/>
            <a:ext cx="4160520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82312" y="1115568"/>
            <a:ext cx="40142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Machine Learning?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1499616"/>
            <a:ext cx="3959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Human inspection is subjective &amp; slow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2126894"/>
            <a:ext cx="3959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Pixel comparison ignores structural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2754172"/>
            <a:ext cx="3959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152 discriminative features extracted per signature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3381451"/>
            <a:ext cx="3959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One-Class SVM catches genuine forgery deviations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8888" y="4008729"/>
            <a:ext cx="3959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Confidence threshold prevents false positives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10972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046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— End-to-End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45720"/>
            <a:ext cx="1005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90CA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417320"/>
            <a:ext cx="1097280" cy="182880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" y="1207008"/>
            <a:ext cx="274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1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" y="1463040"/>
            <a:ext cx="10241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
Signature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" y="2240280"/>
            <a:ext cx="102412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D0E4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Draw/File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16736" y="2212848"/>
            <a:ext cx="128016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463039" y="1417320"/>
            <a:ext cx="1097280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83664" y="1207008"/>
            <a:ext cx="274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1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1463040"/>
            <a:ext cx="10241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
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2240280"/>
            <a:ext cx="102412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D0E4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Otsu·Resize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78608" y="2212848"/>
            <a:ext cx="128016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24912" y="1417320"/>
            <a:ext cx="1097280" cy="182880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45536" y="1207008"/>
            <a:ext cx="274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1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1463040"/>
            <a:ext cx="10241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
Extract.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2240280"/>
            <a:ext cx="102412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D0E4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152 feats
7 groups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2212848"/>
            <a:ext cx="128016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986783" y="1417320"/>
            <a:ext cx="1097280" cy="18288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07407" y="1207008"/>
            <a:ext cx="274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1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59" y="1463040"/>
            <a:ext cx="10241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
Select.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59" y="2240280"/>
            <a:ext cx="102412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D0E4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SelectKBest
k=30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02351" y="2212848"/>
            <a:ext cx="128016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248655" y="1417320"/>
            <a:ext cx="1097280" cy="18288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669279" y="1207008"/>
            <a:ext cx="274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1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1" y="1463040"/>
            <a:ext cx="10241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/
Predict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1" y="2240280"/>
            <a:ext cx="102412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D0E4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SVM·KNN·NB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4223" y="2212848"/>
            <a:ext cx="128016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510527" y="1417320"/>
            <a:ext cx="1097280" cy="1828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931151" y="1207008"/>
            <a:ext cx="274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1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3" y="1463040"/>
            <a:ext cx="10241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Forgery
Detect.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3" y="2240280"/>
            <a:ext cx="102412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D0E4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One-Class
SVM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26096" y="2212848"/>
            <a:ext cx="128016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772400" y="1417320"/>
            <a:ext cx="1097280" cy="18288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193024" y="1207008"/>
            <a:ext cx="274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1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08975" y="1463040"/>
            <a:ext cx="10241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
&amp; Result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08975" y="2240280"/>
            <a:ext cx="102412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D0E4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
55%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3401568"/>
            <a:ext cx="8686800" cy="1481328"/>
          </a:xfrm>
          <a:prstGeom prst="rect">
            <a:avLst/>
          </a:prstGeom>
          <a:solidFill>
            <a:srgbClr val="F5F5F5"/>
          </a:solidFill>
          <a:ln w="1270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65760" y="3438144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 &amp; Model Persistence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3767328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StratifiedKFold (k=5) — proportional class splits in every fold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4023360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CV searches k=[25–35] features for optimal SelectKBest threshold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279392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Best model + scaler + selector saved as .pkl via joblib for instant reload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4535424"/>
            <a:ext cx="8412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Background threading keeps UI responsive during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10972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046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1 — Image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45720"/>
            <a:ext cx="1005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CA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15568"/>
            <a:ext cx="1508760" cy="9144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456" y="1161288"/>
            <a:ext cx="14356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
Signature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709928" y="1499616"/>
            <a:ext cx="219456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47672" y="1115568"/>
            <a:ext cx="1508760" cy="914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84248" y="1161288"/>
            <a:ext cx="14356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Grayscale
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499616"/>
            <a:ext cx="219456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712463" y="1115568"/>
            <a:ext cx="1508760" cy="91440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49039" y="1161288"/>
            <a:ext cx="14356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Otsu
Thresholding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39512" y="1499616"/>
            <a:ext cx="219456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77256" y="1115568"/>
            <a:ext cx="1508760" cy="91440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13832" y="1161288"/>
            <a:ext cx="14356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Aspect-Ratio
Preservation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4304" y="1499616"/>
            <a:ext cx="219456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242048" y="1115568"/>
            <a:ext cx="1508760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78624" y="1161288"/>
            <a:ext cx="14356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200×200 Binary
Normalized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286000"/>
            <a:ext cx="4206240" cy="126187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28600" y="2286000"/>
            <a:ext cx="420624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3464" y="2322576"/>
            <a:ext cx="409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Grayscale 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" y="2670048"/>
            <a:ext cx="3977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PIL .convert('L') — weighted luminance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2953512"/>
            <a:ext cx="3977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Removes </a:t>
            </a:r>
            <a:r>
              <a:rPr sz="1200" b="0" i="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colour</a:t>
            </a:r>
            <a:r>
              <a:rPr sz="1200" b="0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info irrelevant to shape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" y="3236976"/>
            <a:ext cx="3977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8-bit single-channel output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2286000"/>
            <a:ext cx="4206240" cy="1261872"/>
          </a:xfrm>
          <a:prstGeom prst="rect">
            <a:avLst/>
          </a:prstGeom>
          <a:solidFill>
            <a:srgbClr val="EDE7F6"/>
          </a:solidFill>
          <a:ln w="12700">
            <a:solidFill>
              <a:srgbClr val="452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709160" y="2286000"/>
            <a:ext cx="4206240" cy="347472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64024" y="2322576"/>
            <a:ext cx="409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Otsu Thresholding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8888" y="2670048"/>
            <a:ext cx="3977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cv2.THRESH_BINARY_INV + THRESH_OTSU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2953512"/>
            <a:ext cx="3977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Auto-finds optimal threshold T*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18888" y="3236976"/>
            <a:ext cx="3977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Robust to pen pressure &amp; paper colour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3639312"/>
            <a:ext cx="4206240" cy="1261872"/>
          </a:xfrm>
          <a:prstGeom prst="rect">
            <a:avLst/>
          </a:prstGeom>
          <a:solidFill>
            <a:srgbClr val="E0F7FA"/>
          </a:solidFill>
          <a:ln w="12700">
            <a:solidFill>
              <a:srgbClr val="00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28600" y="3639312"/>
            <a:ext cx="4206240" cy="34747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83464" y="3675887"/>
            <a:ext cx="409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Aspect-Ratio Preservation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" y="4023360"/>
            <a:ext cx="3977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Scale factor from longer dimension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" y="4306824"/>
            <a:ext cx="3977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Centres into 200×200 zero-padded canvas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" y="4590288"/>
            <a:ext cx="3977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Prevents shape distortion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09160" y="3639312"/>
            <a:ext cx="4206240" cy="1261872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709160" y="3639312"/>
            <a:ext cx="4206240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764024" y="3675887"/>
            <a:ext cx="4096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Normalisation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18888" y="4023360"/>
            <a:ext cx="3977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uint8 values {0,255} only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18888" y="4306824"/>
            <a:ext cx="3977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Fixed 200×200 for all extractors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8888" y="4590288"/>
            <a:ext cx="3977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INTER_AREA for downsampling quality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109728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35732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2 — Feature Extraction  (152 features, 7 groups)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45720"/>
            <a:ext cx="1005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90CA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24128"/>
            <a:ext cx="859536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1051560"/>
            <a:ext cx="8595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47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Vector  F ∈ ℝ¹⁵²  =  G1(7) ⊕ G2(10) ⊕ G3(16) ⊕ G4(64) ⊕ G5(20) ⊕ G6(20) ⊕ G7(15)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536192"/>
            <a:ext cx="2121408" cy="1417320"/>
          </a:xfrm>
          <a:prstGeom prst="rect">
            <a:avLst/>
          </a:prstGeom>
          <a:solidFill>
            <a:srgbClr val="FAFAFA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1168" y="1536192"/>
            <a:ext cx="2121408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6032" y="1572768"/>
            <a:ext cx="16093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G1 — Hu Moments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1591056"/>
            <a:ext cx="4023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975104"/>
            <a:ext cx="199339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invariant moments: rotation/scale/translation robust. Log-scale applied.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95728" y="1536192"/>
            <a:ext cx="2121408" cy="1417320"/>
          </a:xfrm>
          <a:prstGeom prst="rect">
            <a:avLst/>
          </a:prstGeom>
          <a:solidFill>
            <a:srgbClr val="FAFAFA"/>
          </a:solidFill>
          <a:ln w="15240">
            <a:solidFill>
              <a:srgbClr val="452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95728" y="1536192"/>
            <a:ext cx="2121408" cy="384048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50592" y="1572768"/>
            <a:ext cx="16093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G2 — Shape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1591056"/>
            <a:ext cx="4023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1975104"/>
            <a:ext cx="19933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Area, perimeter, compactness, eccentricity (eigenvalues), solidity, extent, aspect ratio, contour stats.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0288" y="1536192"/>
            <a:ext cx="2121408" cy="1417320"/>
          </a:xfrm>
          <a:prstGeom prst="rect">
            <a:avLst/>
          </a:prstGeom>
          <a:solidFill>
            <a:srgbClr val="FAFAFA"/>
          </a:solidFill>
          <a:ln w="15240">
            <a:solidFill>
              <a:srgbClr val="00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90288" y="1536192"/>
            <a:ext cx="2121408" cy="38404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45151" y="1572768"/>
            <a:ext cx="16093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G3 — 4×4 Grid Density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1591056"/>
            <a:ext cx="4023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1975104"/>
            <a:ext cx="199339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Ink density in 16 spatial cells. Coarse spatial distribution.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84847" y="1536192"/>
            <a:ext cx="2121408" cy="1417320"/>
          </a:xfrm>
          <a:prstGeom prst="rect">
            <a:avLst/>
          </a:prstGeom>
          <a:solidFill>
            <a:srgbClr val="FAFAFA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784847" y="1536192"/>
            <a:ext cx="2121408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39711" y="1572768"/>
            <a:ext cx="17164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G4 — 8×8 Grid Density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7" y="1591056"/>
            <a:ext cx="4023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7999" y="1975104"/>
            <a:ext cx="199339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High-res ink density in 64 cells. Primary spatial descriptor.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" y="3044952"/>
            <a:ext cx="2121408" cy="1417320"/>
          </a:xfrm>
          <a:prstGeom prst="rect">
            <a:avLst/>
          </a:prstGeom>
          <a:solidFill>
            <a:srgbClr val="FAFAFA"/>
          </a:solidFill>
          <a:ln w="1524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01168" y="3044952"/>
            <a:ext cx="2121408" cy="3840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56032" y="3081528"/>
            <a:ext cx="16093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G5 — </a:t>
            </a:r>
            <a:r>
              <a:rPr sz="1100" b="1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Horiz</a:t>
            </a:r>
            <a:r>
              <a:rPr sz="11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Projection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47088" y="3099816"/>
            <a:ext cx="4023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3483864"/>
            <a:ext cx="199339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Row-wise ink density (20 points). Vertical stroke profile.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95728" y="3044952"/>
            <a:ext cx="2121408" cy="1417320"/>
          </a:xfrm>
          <a:prstGeom prst="rect">
            <a:avLst/>
          </a:prstGeom>
          <a:solidFill>
            <a:srgbClr val="FAFAFA"/>
          </a:solidFill>
          <a:ln w="1524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395728" y="3044952"/>
            <a:ext cx="2121408" cy="38404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450592" y="3081528"/>
            <a:ext cx="16093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G6 — Vert. Projection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41648" y="3099816"/>
            <a:ext cx="4023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3483864"/>
            <a:ext cx="199339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Column-wise ink density (20 points). Horizontal stroke width.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3044952"/>
            <a:ext cx="2121408" cy="1417320"/>
          </a:xfrm>
          <a:prstGeom prst="rect">
            <a:avLst/>
          </a:prstGeom>
          <a:solidFill>
            <a:srgbClr val="FAFAFA"/>
          </a:solidFill>
          <a:ln w="1524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590288" y="3044952"/>
            <a:ext cx="2121408" cy="384048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645151" y="3081528"/>
            <a:ext cx="16093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G7 — Statistical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6208" y="3099816"/>
            <a:ext cx="4023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3483864"/>
            <a:ext cx="199339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Pixel stats, transitions H/V, bbox, hull perimeter, convexity defect.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42048" y="3072384"/>
            <a:ext cx="1627632" cy="1426464"/>
          </a:xfrm>
          <a:prstGeom prst="rect">
            <a:avLst/>
          </a:prstGeom>
          <a:solidFill>
            <a:srgbClr val="4A148C"/>
          </a:solidFill>
          <a:ln w="19050">
            <a:solidFill>
              <a:srgbClr val="CE9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242048" y="3163824"/>
            <a:ext cx="16276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CE93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42048" y="3803904"/>
            <a:ext cx="1627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109728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Stage 3 — Classification &amp; Forgery Detection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4572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0CAF9"/>
                </a:solidFill>
              </a:rPr>
              <a:t>6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51560"/>
            <a:ext cx="2834640" cy="1993392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1168" y="1051560"/>
            <a:ext cx="283464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" y="1078992"/>
            <a:ext cx="2724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625" y="1463040"/>
            <a:ext cx="302666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 dirty="0">
                <a:solidFill>
                  <a:srgbClr val="1565C0"/>
                </a:solidFill>
              </a:rPr>
              <a:t>Config: kernel=RBF · C=5 · gamma=scale · probability=True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1755648"/>
            <a:ext cx="2651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▸  Maximum-margin hyperplane in feature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2039112"/>
            <a:ext cx="2651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▸  RBF kernel → high-dimensional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322576"/>
            <a:ext cx="2651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▸  Platt scaling for confidence scores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2606039"/>
            <a:ext cx="2651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▸  Best for complex non-linear boundaries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72968" y="1051560"/>
            <a:ext cx="2834640" cy="1993392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72968" y="1051560"/>
            <a:ext cx="283464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27832" y="1078992"/>
            <a:ext cx="2724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K-Nearest Neighbors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14630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 dirty="0">
                <a:solidFill>
                  <a:srgbClr val="2E7D32"/>
                </a:solidFill>
              </a:rPr>
              <a:t>Config: </a:t>
            </a:r>
            <a:r>
              <a:rPr sz="900" b="1" i="1" dirty="0" err="1">
                <a:solidFill>
                  <a:srgbClr val="2E7D32"/>
                </a:solidFill>
              </a:rPr>
              <a:t>n_neighbors</a:t>
            </a:r>
            <a:r>
              <a:rPr sz="900" b="1" i="1" dirty="0">
                <a:solidFill>
                  <a:srgbClr val="2E7D32"/>
                </a:solidFill>
              </a:rPr>
              <a:t> = max(3, </a:t>
            </a:r>
            <a:r>
              <a:rPr sz="900" b="1" i="1" dirty="0" err="1">
                <a:solidFill>
                  <a:srgbClr val="2E7D32"/>
                </a:solidFill>
              </a:rPr>
              <a:t>min_per_class</a:t>
            </a:r>
            <a:r>
              <a:rPr sz="900" b="1" i="1" dirty="0">
                <a:solidFill>
                  <a:srgbClr val="2E7D32"/>
                </a:solidFill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1755648"/>
            <a:ext cx="2651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▸  Non-parametric — no explicit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4408" y="2039112"/>
            <a:ext cx="2651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▸  k adapts to dataset size automatically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4408" y="2322576"/>
            <a:ext cx="2651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▸  Classifies by proximity in feature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4408" y="2606039"/>
            <a:ext cx="2651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▸  Effective for irregular decision boundaries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051560"/>
            <a:ext cx="2834640" cy="1993392"/>
          </a:xfrm>
          <a:prstGeom prst="rect">
            <a:avLst/>
          </a:prstGeom>
          <a:solidFill>
            <a:srgbClr val="F3E5F5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44768" y="1051560"/>
            <a:ext cx="283464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99631" y="1078992"/>
            <a:ext cx="2724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Gaussian Naïve Bayes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7" y="14630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6A1B9A"/>
                </a:solidFill>
              </a:rPr>
              <a:t>Config: Assumes Gaussian feature distribution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7" y="1755648"/>
            <a:ext cx="2651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▸  Probabilistic — Bayes theorem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7" y="2039112"/>
            <a:ext cx="2651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▸  Extremely fast training &amp; inference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7" y="2322576"/>
            <a:ext cx="2651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▸  Assumes feature independence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7" y="2606039"/>
            <a:ext cx="2651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▸  Calibrated posterior probabilities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" y="3154680"/>
            <a:ext cx="8741664" cy="17830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01168" y="3154680"/>
            <a:ext cx="8741664" cy="3840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01168" y="3172968"/>
            <a:ext cx="8741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One-Class SVM — Genuine Forgery Detection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3602736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▸  Trained exclusively on genuine samples per person (≥ 3 samples required)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3849624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▸  kernel=RBF · nu=0.1 · gamma=scale — nu controls allowed outlier fraction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096512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212121"/>
                </a:solidFill>
              </a:rPr>
              <a:t>▸  Predicts +1 (genuine) or −1 (anomaly) — operates AFTER multi-class classification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34340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▸  Two-stage: (1) Who is it? → multi-class SVM  (2) Is it genuine? → One-Class SVM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590288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▸  Catches skilled forgeries that fool the multi-class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109728"/>
          </a:xfrm>
          <a:prstGeom prst="rect">
            <a:avLst/>
          </a:prstGeom>
          <a:solidFill>
            <a:srgbClr val="80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4343" y="45720"/>
            <a:ext cx="844731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Diagnostic Panels </a:t>
            </a:r>
            <a:r>
              <a:rPr lang="en-US" sz="2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Explainable AI </a:t>
            </a:r>
            <a:r>
              <a:rPr lang="en-US" sz="2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Visualisations</a:t>
            </a:r>
            <a:endParaRPr sz="2600" b="1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55279" y="45720"/>
            <a:ext cx="1005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90CA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49" y="1024128"/>
            <a:ext cx="1731263" cy="3977639"/>
          </a:xfrm>
          <a:prstGeom prst="rect">
            <a:avLst/>
          </a:prstGeom>
          <a:solidFill>
            <a:srgbClr val="ECEFF1"/>
          </a:solidFill>
          <a:ln w="1524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2880" y="1024128"/>
            <a:ext cx="1627632" cy="4572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9456" y="1042415"/>
            <a:ext cx="1554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Grayscale + Binary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9" y="1536192"/>
            <a:ext cx="17463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Full-res 340×340 display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00" y="2176272"/>
            <a:ext cx="16296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Ink density ratio shown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00" y="2816352"/>
            <a:ext cx="16296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Otsu threshold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456431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Zoomable pop-up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096511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Min/max/mean/std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56816" y="1024128"/>
            <a:ext cx="1627632" cy="3977639"/>
          </a:xfrm>
          <a:prstGeom prst="rect">
            <a:avLst/>
          </a:prstGeom>
          <a:solidFill>
            <a:srgbClr val="FFEBEE"/>
          </a:solidFill>
          <a:ln w="1524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956816" y="1024128"/>
            <a:ext cx="1627632" cy="4572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93392" y="1042415"/>
            <a:ext cx="1554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Colour Contours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1536192"/>
            <a:ext cx="1554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Each contour distinct </a:t>
            </a:r>
            <a:r>
              <a:rPr sz="1000" b="1" i="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colour</a:t>
            </a:r>
            <a:endParaRPr sz="1000" b="1" i="0" dirty="0">
              <a:solidFill>
                <a:srgbClr val="2121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48256" y="2176272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Sorted largest-first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48256" y="2816352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Centroid labels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1719" y="3456431"/>
            <a:ext cx="15695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Count &amp; areas shown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48256" y="4096511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Stroke isolation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30752" y="1024128"/>
            <a:ext cx="1627632" cy="3977639"/>
          </a:xfrm>
          <a:prstGeom prst="rect">
            <a:avLst/>
          </a:prstGeom>
          <a:solidFill>
            <a:srgbClr val="ECEFF1"/>
          </a:solidFill>
          <a:ln w="1524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30752" y="1024128"/>
            <a:ext cx="1627632" cy="4572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767328" y="1042415"/>
            <a:ext cx="1554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Skeleton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22191" y="1536192"/>
            <a:ext cx="1463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Iterative erosion converges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3786" y="2176272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Single-pixel-wide strokes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4956" y="2816352"/>
            <a:ext cx="18552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Cyan on grey background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42504" y="3456431"/>
            <a:ext cx="17007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Iteration count shown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24363" y="4096511"/>
            <a:ext cx="15971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Complexity indicator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39665" y="1024128"/>
            <a:ext cx="1735329" cy="3977639"/>
          </a:xfrm>
          <a:prstGeom prst="rect">
            <a:avLst/>
          </a:prstGeom>
          <a:solidFill>
            <a:srgbClr val="FFF3E0"/>
          </a:solidFill>
          <a:ln w="1524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504688" y="1024128"/>
            <a:ext cx="1627632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541264" y="1042415"/>
            <a:ext cx="1554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8×8 Ink Heatmap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2013" y="1536192"/>
            <a:ext cx="16174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TURBO colormap </a:t>
            </a:r>
            <a:r>
              <a:rPr lang="en-US" sz="1000"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US" sz="1000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1000"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000" b="1" i="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blue→red</a:t>
            </a:r>
            <a:r>
              <a:rPr sz="1000"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39664" y="2176272"/>
            <a:ext cx="1838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Densest/emptiest flagged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96128" y="2816352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Mean density shown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96128" y="3456431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Grid lines visible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96128" y="4096511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Spatial distribution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78624" y="1024128"/>
            <a:ext cx="1757676" cy="3977639"/>
          </a:xfrm>
          <a:prstGeom prst="rect">
            <a:avLst/>
          </a:prstGeom>
          <a:solidFill>
            <a:srgbClr val="E8EAF6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278624" y="1024128"/>
            <a:ext cx="1627632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315200" y="1042415"/>
            <a:ext cx="1554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Projection Profiles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60766" y="1536192"/>
            <a:ext cx="18470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Horizontal: row-wise sums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78623" y="2176272"/>
            <a:ext cx="16824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Vertical: col-wise sums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70064" y="2816352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20-point bar charts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70064" y="3456431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Gradient colours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50177" y="4096511"/>
            <a:ext cx="17109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Stroke rhythm indicator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109728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046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Recognition &amp; Forgery Detection — Decision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45720"/>
            <a:ext cx="1005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CA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2254" y="1115568"/>
            <a:ext cx="1645920" cy="9144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601" y="1161288"/>
            <a:ext cx="15727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 / Import
Signature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997166" y="1115568"/>
            <a:ext cx="1645920" cy="914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90200" y="1161288"/>
            <a:ext cx="15727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
→ 200×200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05072" y="1115568"/>
            <a:ext cx="1645920" cy="91440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05363" y="1161288"/>
            <a:ext cx="15727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
152 Features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72628" y="1115568"/>
            <a:ext cx="1645920" cy="91440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16461" y="1161288"/>
            <a:ext cx="15727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 + Select
30 Features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43667" y="1115568"/>
            <a:ext cx="1097280" cy="9144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72985" y="1161288"/>
            <a:ext cx="102412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Multi-class
Classify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2304288"/>
            <a:ext cx="2194560" cy="6400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4720" y="2340864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≥ 55%?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04288"/>
            <a:ext cx="2560320" cy="64008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2322576"/>
            <a:ext cx="2560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Unrecognised
(Low Confidence)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304288"/>
            <a:ext cx="2834640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35040" y="2322576"/>
            <a:ext cx="2834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One-Class SVM
Forgery Check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3218688"/>
            <a:ext cx="2011680" cy="6217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37760" y="3255264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GENUINE — Confirmed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218688"/>
            <a:ext cx="1737360" cy="62179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223760" y="3236976"/>
            <a:ext cx="1737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FORGED
Suspicious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041648"/>
            <a:ext cx="859536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7200" y="4096512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panel shows: Verdict + Confidence % + Forgery note + All class probabilities + Diagnostic panels (contours, skeleton, heatmap, projections)</a:t>
            </a:r>
          </a:p>
        </p:txBody>
      </p:sp>
      <p:sp>
        <p:nvSpPr>
          <p:cNvPr id="32" name="سهم: لليمين 31">
            <a:extLst>
              <a:ext uri="{FF2B5EF4-FFF2-40B4-BE49-F238E27FC236}">
                <a16:creationId xmlns:a16="http://schemas.microsoft.com/office/drawing/2014/main" id="{AAF7DE3C-773D-462F-830F-2D0B0E3D6113}"/>
              </a:ext>
            </a:extLst>
          </p:cNvPr>
          <p:cNvSpPr/>
          <p:nvPr/>
        </p:nvSpPr>
        <p:spPr>
          <a:xfrm>
            <a:off x="1737360" y="1558254"/>
            <a:ext cx="267645" cy="25357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سهم: لليمين 32">
            <a:extLst>
              <a:ext uri="{FF2B5EF4-FFF2-40B4-BE49-F238E27FC236}">
                <a16:creationId xmlns:a16="http://schemas.microsoft.com/office/drawing/2014/main" id="{80E094B5-3FCF-480E-8990-4097F70555B0}"/>
              </a:ext>
            </a:extLst>
          </p:cNvPr>
          <p:cNvSpPr/>
          <p:nvPr/>
        </p:nvSpPr>
        <p:spPr>
          <a:xfrm>
            <a:off x="3702594" y="1517571"/>
            <a:ext cx="267645" cy="25357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سهم: لليمين 33">
            <a:extLst>
              <a:ext uri="{FF2B5EF4-FFF2-40B4-BE49-F238E27FC236}">
                <a16:creationId xmlns:a16="http://schemas.microsoft.com/office/drawing/2014/main" id="{A4AF10B4-B546-45F1-8E9A-774033815AE7}"/>
              </a:ext>
            </a:extLst>
          </p:cNvPr>
          <p:cNvSpPr/>
          <p:nvPr/>
        </p:nvSpPr>
        <p:spPr>
          <a:xfrm>
            <a:off x="5692482" y="1550997"/>
            <a:ext cx="267645" cy="25357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سهم: لليمين 34">
            <a:extLst>
              <a:ext uri="{FF2B5EF4-FFF2-40B4-BE49-F238E27FC236}">
                <a16:creationId xmlns:a16="http://schemas.microsoft.com/office/drawing/2014/main" id="{F3AEB62D-4506-4FAA-9419-FD9DC1440C38}"/>
              </a:ext>
            </a:extLst>
          </p:cNvPr>
          <p:cNvSpPr/>
          <p:nvPr/>
        </p:nvSpPr>
        <p:spPr>
          <a:xfrm>
            <a:off x="7659167" y="1543742"/>
            <a:ext cx="267645" cy="25357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109728"/>
          </a:xfrm>
          <a:prstGeom prst="rect">
            <a:avLst/>
          </a:prstGeom>
          <a:solidFill>
            <a:srgbClr val="80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046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 Key Engineering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45720"/>
            <a:ext cx="1005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0CA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97280"/>
            <a:ext cx="4206240" cy="420624"/>
          </a:xfrm>
          <a:prstGeom prst="rect">
            <a:avLst/>
          </a:prstGeom>
          <a:solidFill>
            <a:srgbClr val="FAFAFA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1168" y="1097280"/>
            <a:ext cx="347472" cy="42062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1168" y="1097280"/>
            <a:ext cx="347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1170432"/>
            <a:ext cx="548640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504" y="1170432"/>
            <a:ext cx="548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143000"/>
            <a:ext cx="31272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Relative paths — works on any machine, no hard-coded dirs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1728" y="1097280"/>
            <a:ext cx="4206240" cy="420624"/>
          </a:xfrm>
          <a:prstGeom prst="rect">
            <a:avLst/>
          </a:prstGeom>
          <a:solidFill>
            <a:srgbClr val="FAFAFA"/>
          </a:solidFill>
          <a:ln w="10160">
            <a:solidFill>
              <a:srgbClr val="00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81728" y="1097280"/>
            <a:ext cx="347472" cy="420624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81728" y="1097280"/>
            <a:ext cx="347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4064" y="1170432"/>
            <a:ext cx="548640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84064" y="1170432"/>
            <a:ext cx="548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1143000"/>
            <a:ext cx="31272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 size based on actual screen fraction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" y="1581912"/>
            <a:ext cx="4206240" cy="420624"/>
          </a:xfrm>
          <a:prstGeom prst="rect">
            <a:avLst/>
          </a:prstGeom>
          <a:solidFill>
            <a:srgbClr val="FAFAFA"/>
          </a:solidFill>
          <a:ln w="1016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01168" y="1581912"/>
            <a:ext cx="347472" cy="420624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01168" y="1581912"/>
            <a:ext cx="347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" y="1655064"/>
            <a:ext cx="548640" cy="25603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3504" y="1655064"/>
            <a:ext cx="548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1627632"/>
            <a:ext cx="31272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 class_names[pred] access — IndexError guard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1728" y="1581912"/>
            <a:ext cx="4206240" cy="420624"/>
          </a:xfrm>
          <a:prstGeom prst="rect">
            <a:avLst/>
          </a:prstGeom>
          <a:solidFill>
            <a:srgbClr val="FAFAFA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681728" y="1581912"/>
            <a:ext cx="347472" cy="42062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81728" y="1581912"/>
            <a:ext cx="347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4064" y="1655064"/>
            <a:ext cx="548640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84064" y="1655064"/>
            <a:ext cx="548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87568" y="1627632"/>
            <a:ext cx="31272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data/ folder organised next to script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" y="2066543"/>
            <a:ext cx="4206240" cy="420624"/>
          </a:xfrm>
          <a:prstGeom prst="rect">
            <a:avLst/>
          </a:prstGeom>
          <a:solidFill>
            <a:srgbClr val="FAFAFA"/>
          </a:solidFill>
          <a:ln w="10160">
            <a:solidFill>
              <a:srgbClr val="452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01168" y="2066543"/>
            <a:ext cx="347472" cy="420624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01168" y="2066543"/>
            <a:ext cx="347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" y="2139696"/>
            <a:ext cx="548640" cy="256032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3504" y="2139696"/>
            <a:ext cx="548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8" y="2112263"/>
            <a:ext cx="31272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 eccentricity via eigenvalues (mu11)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81728" y="2066543"/>
            <a:ext cx="4206240" cy="420624"/>
          </a:xfrm>
          <a:prstGeom prst="rect">
            <a:avLst/>
          </a:prstGeom>
          <a:solidFill>
            <a:srgbClr val="FAFAFA"/>
          </a:solidFill>
          <a:ln w="10160">
            <a:solidFill>
              <a:srgbClr val="00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681728" y="2066543"/>
            <a:ext cx="347472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681728" y="2066543"/>
            <a:ext cx="347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84064" y="2139696"/>
            <a:ext cx="548640" cy="256032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84064" y="2139696"/>
            <a:ext cx="548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87568" y="2112263"/>
            <a:ext cx="31272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from ALL contours, not just the largest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1168" y="2551176"/>
            <a:ext cx="4206240" cy="420624"/>
          </a:xfrm>
          <a:prstGeom prst="rect">
            <a:avLst/>
          </a:prstGeom>
          <a:solidFill>
            <a:srgbClr val="FAFAFA"/>
          </a:solidFill>
          <a:ln w="1016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01168" y="2551176"/>
            <a:ext cx="347472" cy="42062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01168" y="2551176"/>
            <a:ext cx="347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" y="2624328"/>
            <a:ext cx="548640" cy="2560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03504" y="2624328"/>
            <a:ext cx="548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07008" y="2596896"/>
            <a:ext cx="31272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Optimal k via cross-validation, not fixed k=20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81728" y="2551176"/>
            <a:ext cx="4206240" cy="420624"/>
          </a:xfrm>
          <a:prstGeom prst="rect">
            <a:avLst/>
          </a:prstGeom>
          <a:solidFill>
            <a:srgbClr val="FAFAFA"/>
          </a:solidFill>
          <a:ln w="1016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681728" y="2551176"/>
            <a:ext cx="347472" cy="42062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681728" y="2551176"/>
            <a:ext cx="347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84064" y="2624328"/>
            <a:ext cx="548640" cy="2560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084064" y="2624328"/>
            <a:ext cx="548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87568" y="2596896"/>
            <a:ext cx="31272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threshold 55% — 'Unrecognised' fallback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1168" y="3035808"/>
            <a:ext cx="4206240" cy="420624"/>
          </a:xfrm>
          <a:prstGeom prst="rect">
            <a:avLst/>
          </a:prstGeom>
          <a:solidFill>
            <a:srgbClr val="FAFAFA"/>
          </a:solidFill>
          <a:ln w="1016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01168" y="3035808"/>
            <a:ext cx="347472" cy="420624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01168" y="3035808"/>
            <a:ext cx="347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" y="3108960"/>
            <a:ext cx="548640" cy="256032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03504" y="3108960"/>
            <a:ext cx="548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07008" y="3081528"/>
            <a:ext cx="31272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Replaced print() with structured logging to file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81728" y="3035808"/>
            <a:ext cx="4206240" cy="420624"/>
          </a:xfrm>
          <a:prstGeom prst="rect">
            <a:avLst/>
          </a:prstGeom>
          <a:solidFill>
            <a:srgbClr val="FAFAFA"/>
          </a:solidFill>
          <a:ln w="10160">
            <a:solidFill>
              <a:srgbClr val="00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4681728" y="3035808"/>
            <a:ext cx="347472" cy="420624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681728" y="3035808"/>
            <a:ext cx="347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84064" y="3108960"/>
            <a:ext cx="548640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084064" y="3108960"/>
            <a:ext cx="548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87568" y="3081528"/>
            <a:ext cx="31272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SignatureCanvasWidget — shared, no code duplication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1168" y="3520440"/>
            <a:ext cx="4206240" cy="420624"/>
          </a:xfrm>
          <a:prstGeom prst="rect">
            <a:avLst/>
          </a:prstGeom>
          <a:solidFill>
            <a:srgbClr val="FAFAFA"/>
          </a:solidFill>
          <a:ln w="1016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201168" y="3520440"/>
            <a:ext cx="347472" cy="420624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01168" y="3520440"/>
            <a:ext cx="347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3504" y="3593592"/>
            <a:ext cx="548640" cy="25603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03504" y="3593592"/>
            <a:ext cx="548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07008" y="3566160"/>
            <a:ext cx="31272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 algorithm dialog — handles None/cancel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81728" y="3520440"/>
            <a:ext cx="4206240" cy="420624"/>
          </a:xfrm>
          <a:prstGeom prst="rect">
            <a:avLst/>
          </a:prstGeom>
          <a:solidFill>
            <a:srgbClr val="FAFAFA"/>
          </a:solidFill>
          <a:ln w="1016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4681728" y="3520440"/>
            <a:ext cx="347472" cy="42062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681728" y="3520440"/>
            <a:ext cx="347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84064" y="3593592"/>
            <a:ext cx="548640" cy="2560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5084064" y="3593592"/>
            <a:ext cx="548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87568" y="3566160"/>
            <a:ext cx="31272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in background thread — UI stays responsive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1168" y="4005072"/>
            <a:ext cx="4206240" cy="420624"/>
          </a:xfrm>
          <a:prstGeom prst="rect">
            <a:avLst/>
          </a:prstGeom>
          <a:solidFill>
            <a:srgbClr val="FAFAFA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201168" y="4005072"/>
            <a:ext cx="347472" cy="42062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01168" y="4005072"/>
            <a:ext cx="347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3504" y="4078224"/>
            <a:ext cx="548640" cy="25603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03504" y="4078224"/>
            <a:ext cx="548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07008" y="4050791"/>
            <a:ext cx="31272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sample count raised to 15 + progress bar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81728" y="4005072"/>
            <a:ext cx="4206240" cy="420624"/>
          </a:xfrm>
          <a:prstGeom prst="rect">
            <a:avLst/>
          </a:prstGeom>
          <a:solidFill>
            <a:srgbClr val="FAFAFA"/>
          </a:solidFill>
          <a:ln w="1016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4681728" y="4005072"/>
            <a:ext cx="347472" cy="42062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681728" y="4005072"/>
            <a:ext cx="347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84064" y="4078224"/>
            <a:ext cx="548640" cy="2560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084064" y="4078224"/>
            <a:ext cx="548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87568" y="4050791"/>
            <a:ext cx="31272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One-Class SVM — genuine forgery detection per person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1168" y="4489704"/>
            <a:ext cx="4206240" cy="420624"/>
          </a:xfrm>
          <a:prstGeom prst="rect">
            <a:avLst/>
          </a:prstGeom>
          <a:solidFill>
            <a:srgbClr val="FAFAFA"/>
          </a:solidFill>
          <a:ln w="1016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201168" y="4489704"/>
            <a:ext cx="347472" cy="420624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01168" y="4489704"/>
            <a:ext cx="347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03504" y="4562856"/>
            <a:ext cx="548640" cy="256032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03504" y="4562856"/>
            <a:ext cx="548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UX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07008" y="4535424"/>
            <a:ext cx="31272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 retrain warning when new person registered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81728" y="4489704"/>
            <a:ext cx="4206240" cy="420624"/>
          </a:xfrm>
          <a:prstGeom prst="rect">
            <a:avLst/>
          </a:prstGeom>
          <a:solidFill>
            <a:srgbClr val="FAFAFA"/>
          </a:solidFill>
          <a:ln w="1016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4681728" y="4489704"/>
            <a:ext cx="347472" cy="42062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4681728" y="4489704"/>
            <a:ext cx="347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084064" y="4562856"/>
            <a:ext cx="548640" cy="2560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5084064" y="4562856"/>
            <a:ext cx="548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87568" y="4535424"/>
            <a:ext cx="31272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 CV accuracy when data is scarce (&lt; 10 samples)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10972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046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Framework —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45720"/>
            <a:ext cx="1005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CA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51560"/>
            <a:ext cx="2788920" cy="1316736"/>
          </a:xfrm>
          <a:prstGeom prst="rect">
            <a:avLst/>
          </a:prstGeom>
          <a:solidFill>
            <a:srgbClr val="FAFAFA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1168" y="1051560"/>
            <a:ext cx="278892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6032" y="1088136"/>
            <a:ext cx="26791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435607"/>
            <a:ext cx="260604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2608" y="1453895"/>
            <a:ext cx="2606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565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(TP+TN)/(TP+TN+FP+FN)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764792"/>
            <a:ext cx="2606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correct classification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45536" y="1051560"/>
            <a:ext cx="2788920" cy="1316736"/>
          </a:xfrm>
          <a:prstGeom prst="rect">
            <a:avLst/>
          </a:prstGeom>
          <a:solidFill>
            <a:srgbClr val="FAFAFA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145536" y="1051560"/>
            <a:ext cx="2788920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0" y="1088136"/>
            <a:ext cx="26791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6976" y="1435607"/>
            <a:ext cx="260604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36976" y="1453895"/>
            <a:ext cx="2606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B5E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 / (TP + FP)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6976" y="1764792"/>
            <a:ext cx="2606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Fraction of flagged-genuine that were truly genuine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9904" y="1051560"/>
            <a:ext cx="2788920" cy="1316736"/>
          </a:xfrm>
          <a:prstGeom prst="rect">
            <a:avLst/>
          </a:prstGeom>
          <a:solidFill>
            <a:srgbClr val="FAFAFA"/>
          </a:solidFill>
          <a:ln w="15240">
            <a:solidFill>
              <a:srgbClr val="452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089904" y="1051560"/>
            <a:ext cx="2788920" cy="347472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44768" y="1088136"/>
            <a:ext cx="26791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435607"/>
            <a:ext cx="260604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452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81344" y="1453895"/>
            <a:ext cx="2606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4527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 / (TP + FN)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1764792"/>
            <a:ext cx="2606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Fraction of genuine signatures correctly identified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2468880"/>
            <a:ext cx="2788920" cy="1316736"/>
          </a:xfrm>
          <a:prstGeom prst="rect">
            <a:avLst/>
          </a:prstGeom>
          <a:solidFill>
            <a:srgbClr val="FAFAFA"/>
          </a:solidFill>
          <a:ln w="1524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01168" y="2468880"/>
            <a:ext cx="2788920" cy="34747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56032" y="2505456"/>
            <a:ext cx="26791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" y="2852928"/>
            <a:ext cx="260604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92608" y="2871216"/>
            <a:ext cx="2606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651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2·Pr·Recall/(Pr+R)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" y="3182112"/>
            <a:ext cx="2606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Harmonic mean — balanced for imbalanced classes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45536" y="2468880"/>
            <a:ext cx="2788920" cy="1316736"/>
          </a:xfrm>
          <a:prstGeom prst="rect">
            <a:avLst/>
          </a:prstGeom>
          <a:solidFill>
            <a:srgbClr val="FAFAFA"/>
          </a:solidFill>
          <a:ln w="1524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145536" y="2468880"/>
            <a:ext cx="2788920" cy="34747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00400" y="2505456"/>
            <a:ext cx="26791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TNR / Specificity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36976" y="2852928"/>
            <a:ext cx="260604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36976" y="2871216"/>
            <a:ext cx="2606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B7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TN / (TN + FP)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36976" y="3182112"/>
            <a:ext cx="2606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Fraction of impostors correctly rejected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9904" y="2468880"/>
            <a:ext cx="2788920" cy="1316736"/>
          </a:xfrm>
          <a:prstGeom prst="rect">
            <a:avLst/>
          </a:prstGeom>
          <a:solidFill>
            <a:srgbClr val="FAFAFA"/>
          </a:solidFill>
          <a:ln w="1524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089904" y="2468880"/>
            <a:ext cx="2788920" cy="347472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144768" y="2505456"/>
            <a:ext cx="26791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Rate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81344" y="2852928"/>
            <a:ext cx="260604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181344" y="2871216"/>
            <a:ext cx="2606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747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(FP+FN) / Total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81344" y="3182112"/>
            <a:ext cx="2606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Combined false acceptance + rejection rate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1168" y="4005072"/>
            <a:ext cx="8741664" cy="896112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47472" y="4059936"/>
            <a:ext cx="84307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Cross-Validation: StratifiedKFold ensures proportional class representation. Feature selection searches k∈[25,35] for max CV accuracy. For scarce datasets (&lt;10 samples), 5-fold CV replaces hold-out split.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109728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0467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— Classifier Performance on 102 Test Samples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45720"/>
            <a:ext cx="1005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0CA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2788920" cy="171907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1078992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5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🥇 Best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298448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700784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B3E5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94.12%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487168"/>
            <a:ext cx="27889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8600" y="249631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47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 F1: 0.95   |   Weighted Recall: 0.94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72968" y="1051560"/>
            <a:ext cx="2788920" cy="17190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64408" y="1078992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5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🥈 2nd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2968" y="1298448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1700784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B3E5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86.27%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72968" y="2487168"/>
            <a:ext cx="27889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72968" y="249631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 F1: 0.86   |   Weighted Recall: 0.86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7336" y="1051560"/>
            <a:ext cx="2788920" cy="171907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08776" y="1078992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5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🥉 3rd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1298448"/>
            <a:ext cx="30295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4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ï</a:t>
            </a:r>
            <a:r>
              <a:rPr sz="24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4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1700784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B3E5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58.82%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17336" y="2487168"/>
            <a:ext cx="27889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17336" y="249631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A1B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 F1: 0.58   |   Weighted Recall: 0.56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834640"/>
            <a:ext cx="4572000" cy="214884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834640"/>
            <a:ext cx="393192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109728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046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&amp; Analysis of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45720"/>
            <a:ext cx="1005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CA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8595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 of Classifier Performance on 102 Test Samples — 24 Classes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1" y="1371600"/>
            <a:ext cx="4327579" cy="1664208"/>
          </a:xfrm>
          <a:prstGeom prst="rect">
            <a:avLst/>
          </a:prstGeom>
          <a:solidFill>
            <a:srgbClr val="E3F2FD"/>
          </a:solidFill>
          <a:ln w="1524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1168" y="1371600"/>
            <a:ext cx="4206240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320" y="1408176"/>
            <a:ext cx="40599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 — Why It Dominates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01" y="1773936"/>
            <a:ext cx="42372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Accuracy 94.12% — highest on both datasets (DS1: 97.7%, DS2: 95.1%)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58" y="2020824"/>
            <a:ext cx="42071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RBF kernel maps 30 selected features to high-dimensional separable 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86" y="2267712"/>
            <a:ext cx="44642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Maximum-margin hyperplane robust to small intra-class handwriting variations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349" y="2514600"/>
            <a:ext cx="42465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Platt scaling enables 55% confidence threshold to reject ambiguous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44" y="2761488"/>
            <a:ext cx="40050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Excels on small datasets (4–5 samples/class) — exactly this scenario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17137" y="1371600"/>
            <a:ext cx="4547034" cy="1664208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81728" y="1371600"/>
            <a:ext cx="420624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54880" y="1408176"/>
            <a:ext cx="40599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 — Competitive Without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7115" y="1773936"/>
            <a:ext cx="40050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Accuracy 86.27% — strong result, zero explicit training phase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9858" y="2020824"/>
            <a:ext cx="40050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Classifies by proximity in the 30-feature </a:t>
            </a:r>
            <a:r>
              <a:rPr sz="1000" b="0" i="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SelectKBest</a:t>
            </a:r>
            <a:r>
              <a:rPr sz="1000" b="0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subspace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4372" y="2267712"/>
            <a:ext cx="40050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Slight drop vs SVM: sensitivity to overlapping similar signature styles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2514600"/>
            <a:ext cx="4114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Struggles with classes A–D (2–4 samples) where distances are less stable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7115" y="2761488"/>
            <a:ext cx="41949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Recommended when deployment speed matters more than peak accuracy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829" y="3090672"/>
            <a:ext cx="4327579" cy="1664208"/>
          </a:xfrm>
          <a:prstGeom prst="rect">
            <a:avLst/>
          </a:prstGeom>
          <a:solidFill>
            <a:srgbClr val="F3E5F5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01168" y="3090672"/>
            <a:ext cx="4206240" cy="3657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4320" y="3127248"/>
            <a:ext cx="40599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Bayes — Independence Assumption Violated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640" y="3493008"/>
            <a:ext cx="40050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Accuracy 58.82% — significantly below SVM and KNN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44" y="3739896"/>
            <a:ext cx="43577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Root cause: GNB assumes independence but grid cells are spatially correlated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29" y="3986783"/>
            <a:ext cx="43749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5 classes (a_401, a_403, a_405, a_413, a_416) scored F1=0.00 — total failure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29" y="4233672"/>
            <a:ext cx="42361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Visually distinct classes (A, B, a_404, a_418) still scored F1=1.00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29" y="4411646"/>
            <a:ext cx="42143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Not recommended without PCA pre-processing to decorrelate features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17137" y="3090672"/>
            <a:ext cx="4547034" cy="1664208"/>
          </a:xfrm>
          <a:prstGeom prst="rect">
            <a:avLst/>
          </a:prstGeom>
          <a:solidFill>
            <a:srgbClr val="ECEFF1"/>
          </a:solidFill>
          <a:ln w="1524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681728" y="3090672"/>
            <a:ext cx="4206240" cy="36576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754880" y="3127248"/>
            <a:ext cx="40599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Cross-Classifier Observations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8779" y="3493008"/>
            <a:ext cx="40050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All 3 agree on easy classes: A, B, a_(404), a_(418) → F1=1.00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8778" y="3739896"/>
            <a:ext cx="51000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Hardest classes: a_(407), a_(419) — lowest SVM F1=0.80 (high intra-class variability)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3293" y="3986783"/>
            <a:ext cx="40050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NB failures correlate with spatial feature correlation, not class size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8778" y="4233672"/>
            <a:ext cx="42857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SVM dominates in 22/24 classes; NB ties SVM on only 3 simple classes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3293" y="4480560"/>
            <a:ext cx="40050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35.3 pp gap (SVM vs NB) confirms kernel methods are essential here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846320"/>
            <a:ext cx="8741664" cy="20116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56032" y="4846320"/>
            <a:ext cx="86319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Insight:  The 35 pp accuracy gap (SVM 94% vs NB 59%) confirms kernel-based classifiers are essential — feature independence is NOT valid for handwritten biometrics.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412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"/>
            <a:ext cx="11887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90CA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14400"/>
            <a:ext cx="438912" cy="6217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" y="914400"/>
            <a:ext cx="4389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21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914400"/>
            <a:ext cx="8046720" cy="621792"/>
          </a:xfrm>
          <a:prstGeom prst="rect">
            <a:avLst/>
          </a:prstGeom>
          <a:solidFill>
            <a:srgbClr val="0D2B45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932688"/>
            <a:ext cx="7882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D0E8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 achieves 94.12% accuracy (macro F1=0.95) on 102 test samples across 24 classes — the highest among all classifiers, confirming its superiority for high-dimensional biometric feature spaces.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28800"/>
            <a:ext cx="438912" cy="6217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040" y="1828800"/>
            <a:ext cx="4389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21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1828800"/>
            <a:ext cx="8046720" cy="621792"/>
          </a:xfrm>
          <a:prstGeom prst="rect">
            <a:avLst/>
          </a:prstGeom>
          <a:solidFill>
            <a:srgbClr val="0D2B45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1847088"/>
            <a:ext cx="7882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 delivers a solid 86.27% with no explicit training, making it a practical alternative when deployment speed is prioritised over peak accuracy.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743200"/>
            <a:ext cx="438912" cy="6217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040" y="2743200"/>
            <a:ext cx="4389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21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743200"/>
            <a:ext cx="8046720" cy="621792"/>
          </a:xfrm>
          <a:prstGeom prst="rect">
            <a:avLst/>
          </a:prstGeom>
          <a:solidFill>
            <a:srgbClr val="0D2B45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2761488"/>
            <a:ext cx="7882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Bayes (58.82%) reveals that the 152-feature vector is highly correlated — violating the independence assumption and confirming that kernel-based models are necessary for this task.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57600"/>
            <a:ext cx="438912" cy="6217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0040" y="3657600"/>
            <a:ext cx="4389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21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657600"/>
            <a:ext cx="8046720" cy="621792"/>
          </a:xfrm>
          <a:prstGeom prst="rect">
            <a:avLst/>
          </a:prstGeom>
          <a:solidFill>
            <a:srgbClr val="0D2B45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400" y="3675887"/>
            <a:ext cx="7882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two-stage pipeline (multi-class SVM + One-Class SVM + 55% confidence threshold) combined with 152 diverse features constitutes a robust, production-ready forgery detection system.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645152"/>
            <a:ext cx="8503920" cy="365760"/>
          </a:xfrm>
          <a:prstGeom prst="rect">
            <a:avLst/>
          </a:prstGeom>
          <a:solidFill>
            <a:srgbClr val="006064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0040" y="4663440"/>
            <a:ext cx="8503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 Deep learning (CNNs) · Transformer encoders · Multi-modal fusion · Real-time mobile · SigNet/CEDAR benchmark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1851</Words>
  <Application>Microsoft Office PowerPoint</Application>
  <PresentationFormat>عرض على الشاشة (16:9)</PresentationFormat>
  <Paragraphs>297</Paragraphs>
  <Slides>13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subject/>
  <dc:creator>Ashraf</dc:creator>
  <cp:keywords/>
  <dc:description>generated using python-pptx</dc:description>
  <cp:lastModifiedBy>ashraf</cp:lastModifiedBy>
  <cp:revision>5</cp:revision>
  <dcterms:created xsi:type="dcterms:W3CDTF">2013-01-27T09:14:16Z</dcterms:created>
  <dcterms:modified xsi:type="dcterms:W3CDTF">2026-03-14T21:57:26Z</dcterms:modified>
  <cp:category/>
</cp:coreProperties>
</file>