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0E0E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90E0EF"/>
                </a:solidFill>
                <a:latin typeface="Arial"/>
              </a:rPr>
              <a:t>Performance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EfficientNetB3</c:v>
                </c:pt>
                <c:pt idx="1">
                  <c:v>ResNet-50</c:v>
                </c:pt>
                <c:pt idx="2">
                  <c:v>EfficientNetB0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0.97230000000000005</c:v>
                </c:pt>
                <c:pt idx="1">
                  <c:v>0.97209999999999996</c:v>
                </c:pt>
                <c:pt idx="2">
                  <c:v>0.97209999999999996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CD-487D-B0C1-3AA6AA8020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EfficientNetB3</c:v>
                </c:pt>
                <c:pt idx="1">
                  <c:v>ResNet-50</c:v>
                </c:pt>
                <c:pt idx="2">
                  <c:v>EfficientNetB0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0.96509999999999996</c:v>
                </c:pt>
                <c:pt idx="1">
                  <c:v>0.96509999999999996</c:v>
                </c:pt>
                <c:pt idx="2">
                  <c:v>0.96509999999999996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CD-487D-B0C1-3AA6AA8020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8F4F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EfficientNetB3</c:v>
                </c:pt>
                <c:pt idx="1">
                  <c:v>ResNet-50</c:v>
                </c:pt>
                <c:pt idx="2">
                  <c:v>EfficientNetB0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0.95489999999999997</c:v>
                </c:pt>
                <c:pt idx="1">
                  <c:v>0.95489999999999997</c:v>
                </c:pt>
                <c:pt idx="2">
                  <c:v>0.95479999999999998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CD-487D-B0C1-3AA6AA8020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A8C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7499999999999998"/>
          <c:min val="0.96"/>
        </c:scaling>
        <c:delete val="0"/>
        <c:axPos val="l"/>
        <c:majorGridlines>
          <c:spPr>
            <a:ln w="635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A8C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12233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21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23E8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394960" y="146304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rgbClr val="000000"/>
                </a:solidFill>
              </a:rPr>
              <a:t>🔬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Skin Lesion Classifier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/ ISIC Archive  ·  EfficientNetB3  ·  ResNet-50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4160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 ·  Focal Loss  ·  Inverse-Frequency Class Weights  ·  PyTorch / TensorFlow</a:t>
            </a:r>
            <a:endParaRPr lang="en-US" sz="16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1645920" y="4846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4846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AUC-ROC: 0.9651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86200" y="4846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4846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F1: 0.9549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26480" y="4846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846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Accuracy: 97.23%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66760" y="484632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48463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7 Skin Classes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0" y="6583680"/>
            <a:ext cx="1216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Python 3.11  |  tkinter GUI  |  35,346 Images  |  Target: AUC &gt; 0.88 · F1 &gt; 0.78 · Acc &gt; 0.85</a:t>
            </a:r>
            <a:endParaRPr lang="en-US" sz="1050" dirty="0"/>
          </a:p>
        </p:txBody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244A5EFE-6DD6-4A75-90B6-D46D0155C8E9}"/>
              </a:ext>
            </a:extLst>
          </p:cNvPr>
          <p:cNvSpPr/>
          <p:nvPr/>
        </p:nvSpPr>
        <p:spPr>
          <a:xfrm>
            <a:off x="1066800" y="544677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00"/>
                </a:solidFill>
                <a:latin typeface="Calibri" pitchFamily="34" charset="0"/>
                <a:cs typeface="Calibri" pitchFamily="34" charset="-120"/>
              </a:rPr>
              <a:t>Ashraf Tahseen Ali</a:t>
            </a:r>
            <a:endParaRPr 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303520" cy="150876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91440" cy="1508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⚕  Clinical Challenge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Dermatologists face high workload screening skin lesions. Manual classification is time-consuming and subjective, with diagnostic errors in up to 25% of cases.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5303520" cy="150876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697480"/>
            <a:ext cx="91440" cy="1508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📊  Class Imbalance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HAM10000 is severely imbalanced: melanocytic nevus (nv) has 6,705 samples while dermatofibroma (df) has only 115 — a ratio of 58:1.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4389120"/>
            <a:ext cx="5303520" cy="150876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4389120"/>
            <a:ext cx="91440" cy="1508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🎯  Performance Targets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Macro-averaged AUC-ROC &gt; 0.88, Weighted F1 &gt; 0.78, and Accuracy &gt; 0.85 on a held-out test split.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1005840"/>
            <a:ext cx="2468880" cy="228600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</a:rPr>
              <a:t>35,346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58368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Total Images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326880" y="1005840"/>
            <a:ext cx="2468880" cy="228600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D166"/>
                </a:solidFill>
              </a:rPr>
              <a:t>7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326880" y="23774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Skin Lesion Classes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3657600"/>
            <a:ext cx="2468880" cy="228600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4114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F476F"/>
                </a:solidFill>
              </a:rPr>
              <a:t>58:1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583680" y="5029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Max Class Imbalance Ratio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326880" y="3657600"/>
            <a:ext cx="2468880" cy="228600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26880" y="41148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D6A0"/>
                </a:solidFill>
              </a:rPr>
              <a:t>3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9326880" y="5029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Backbone Models Tested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HAM10000 Dataset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669280" cy="155448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📁  Source &amp;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Kaggle / ISIC Archive — 35,346 processed images across 7 dermoscopic categories. One of the largest publicly available skin lesion datasets.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1005840"/>
            <a:ext cx="5669280" cy="155448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005840"/>
            <a:ext cx="73152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🖼  Image Properties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44475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Dermoscopic images resized to 224×224 px. RGB channels, JPEG format. Original resolution: 600×450 px from handheld dermatoscopes.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5669280" cy="155448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43200"/>
            <a:ext cx="73152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34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🔀  Stratified Splits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Train: 75%  ·  Validation: 15%  ·  Test: 10% — each split preserving class ratio with random seed 42 for reproducibility.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2743200"/>
            <a:ext cx="5669280" cy="155448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2743200"/>
            <a:ext cx="73152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28346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⚙  Data Augmentation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46520" y="318211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H-Flip · V-Flip · Rotation · ColorJitter · RandomAffine · Brightness applied to training set to improve generalization.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480560"/>
            <a:ext cx="5669280" cy="155448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480560"/>
            <a:ext cx="73152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572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⚖  Class Imbalance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91947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Severe imbalance: nv (6,705) dominates while df (115) is extremely rare. Inverse-frequency weights computed per class.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480560"/>
            <a:ext cx="5669280" cy="155448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4480560"/>
            <a:ext cx="73152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4572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🔬  Clinical Coverage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46520" y="4919472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7 classes spanning benign, pre-malignant, and malignant lesions — including Melanoma, BCC, and Actinic Keratosis.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Dermoscopic Classes &amp; Distribution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</a:rPr>
              <a:t>nv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0058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Melanocytic Nevus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051560"/>
            <a:ext cx="626364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051560"/>
            <a:ext cx="6263640" cy="3840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7"/>
          <p:cNvSpPr/>
          <p:nvPr/>
        </p:nvSpPr>
        <p:spPr>
          <a:xfrm>
            <a:off x="11311128" y="10515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6,705 (66.9%)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28216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EF47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28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76F"/>
                </a:solidFill>
              </a:rPr>
              <a:t>mel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177393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Melanoma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819656"/>
            <a:ext cx="68580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819656"/>
            <a:ext cx="1138397" cy="38404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3317" y="18196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1,113 (11.1%)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96312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49631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bkl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25420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Benign Keratosis-like Lesion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2587752"/>
            <a:ext cx="68580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587752"/>
            <a:ext cx="1124078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198998" y="258775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1,099 (11.0%)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64408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644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261"/>
                </a:solidFill>
              </a:rPr>
              <a:t>bcc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31012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Basal Cell Carcinoma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0" y="3355848"/>
            <a:ext cx="68580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3355848"/>
            <a:ext cx="525729" cy="38404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7" name="Text 25"/>
          <p:cNvSpPr/>
          <p:nvPr/>
        </p:nvSpPr>
        <p:spPr>
          <a:xfrm>
            <a:off x="5600649" y="33558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514 (5.1%)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32504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325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</a:rPr>
              <a:t>akiec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691640" y="4078224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Actinic Keratosis / Bowen's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0" y="4123944"/>
            <a:ext cx="68580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0" y="4123944"/>
            <a:ext cx="334462" cy="3840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3" name="Text 31"/>
          <p:cNvSpPr/>
          <p:nvPr/>
        </p:nvSpPr>
        <p:spPr>
          <a:xfrm>
            <a:off x="5409382" y="412394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327 (3.3%)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800600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A8DA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006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DADC"/>
                </a:solidFill>
              </a:rPr>
              <a:t>vasc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91640" y="4846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Vascular Lesion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029200" y="4892040"/>
            <a:ext cx="68580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29200" y="4892040"/>
            <a:ext cx="145240" cy="384048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39" name="Text 37"/>
          <p:cNvSpPr/>
          <p:nvPr/>
        </p:nvSpPr>
        <p:spPr>
          <a:xfrm>
            <a:off x="5220160" y="489204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142 (1.4%)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65760" y="5568696"/>
            <a:ext cx="1188720" cy="548640"/>
          </a:xfrm>
          <a:prstGeom prst="rect">
            <a:avLst/>
          </a:prstGeom>
          <a:solidFill>
            <a:srgbClr val="16304A"/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556869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7DFF"/>
                </a:solidFill>
              </a:rPr>
              <a:t>df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691640" y="5614416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Dermatofibroma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029200" y="5660136"/>
            <a:ext cx="6858000" cy="384048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0" y="5660136"/>
            <a:ext cx="117624" cy="384048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45" name="Text 43"/>
          <p:cNvSpPr/>
          <p:nvPr/>
        </p:nvSpPr>
        <p:spPr>
          <a:xfrm>
            <a:off x="5192544" y="56601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A8C0"/>
                </a:solidFill>
              </a:rPr>
              <a:t>115 (1.1%)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6309360"/>
            <a:ext cx="11430000" cy="438912"/>
          </a:xfrm>
          <a:prstGeom prst="rect">
            <a:avLst/>
          </a:prstGeom>
          <a:solidFill>
            <a:srgbClr val="023E8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6309360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0E0EF"/>
                </a:solidFill>
              </a:rPr>
              <a:t>⚠  Severe Class Imbalance — nv:df ratio ≈ 58:1  |  Addressed via Inverse-Frequency Class Weights passed to Weighted Cross-Entropy / Focal Loss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7FA8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FA8C0"/>
                </a:solidFill>
              </a:rPr>
              <a:t>RAW DATA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FA8C0"/>
                </a:solidFill>
              </a:rPr>
              <a:t>(HAM10000)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35,346 imgs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7 classes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6060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38528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38528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⚙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938528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DATA PREP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&amp; SPLITS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38528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Train/Val/Test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Stratified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26060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602736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02736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602736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</a:rPr>
              <a:t>AUGMENT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90E0EF"/>
                </a:solidFill>
              </a:rPr>
              <a:t>PIPELINE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02736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Flip·Rotate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Color·Affine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11496" y="26060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66944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66944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🏋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266944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</a:rPr>
              <a:t>TRANSFER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D166"/>
                </a:solidFill>
              </a:rPr>
              <a:t>LEARNING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66944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ImageNet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Pre-trained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75704" y="26060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931152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31152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31152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76F"/>
                </a:solidFill>
              </a:rPr>
              <a:t>FOCAL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476F"/>
                </a:solidFill>
              </a:rPr>
              <a:t>LOSS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1152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Class Weights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γ=2, α=class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39912" y="26060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595360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95360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8595360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EVALUATION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&amp; COMPARE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0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AUC·F1·Acc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All Backbones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04120" y="2606040"/>
            <a:ext cx="155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10259568" y="1371600"/>
            <a:ext cx="1508760" cy="2926080"/>
          </a:xfrm>
          <a:prstGeom prst="rect">
            <a:avLst/>
          </a:prstGeom>
          <a:solidFill>
            <a:srgbClr val="16304A"/>
          </a:solidFill>
          <a:ln w="1905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259568" y="14630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🔍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10259568" y="210312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</a:rPr>
              <a:t>INFERENCE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</a:rPr>
              <a:t>DEPLOYMENT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259568" y="283464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Softmax Probs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Risk Label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484632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12233"/>
          </a:solidFill>
          <a:ln w="12700">
            <a:solidFill>
              <a:srgbClr val="7FA8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46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Section 0-1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Imports &amp; Constants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377440" y="484632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12233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377440" y="4846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</a:rPr>
              <a:t>Section 2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</a:rPr>
              <a:t>Data Utilities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297680" y="484632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12233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4846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D166"/>
                </a:solidFill>
              </a:rPr>
              <a:t>Section 3-4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D166"/>
                </a:solidFill>
              </a:rPr>
              <a:t>TF / PyTorch Models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17920" y="484632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12233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846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476F"/>
                </a:solidFill>
              </a:rPr>
              <a:t>Section 5-6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F476F"/>
                </a:solidFill>
              </a:rPr>
              <a:t>Training Engine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138160" y="484632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8160" y="4846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</a:rPr>
              <a:t>Section 7-11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6D6A0"/>
                </a:solidFill>
              </a:rPr>
              <a:t>GUI Tabs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0058400" y="4846320"/>
            <a:ext cx="1783080" cy="640080"/>
          </a:xfrm>
          <a:prstGeom prst="roundRect">
            <a:avLst>
              <a:gd name="adj" fmla="val 7143"/>
            </a:avLst>
          </a:prstGeom>
          <a:solidFill>
            <a:srgbClr val="112233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058400" y="4846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DADC"/>
                </a:solidFill>
              </a:rPr>
              <a:t>Section 12-13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DADC"/>
                </a:solidFill>
              </a:rPr>
              <a:t>Inference &amp; App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4617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A8C0"/>
                </a:solidFill>
              </a:rPr>
              <a:t>Code Sections (13 total)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57200" y="585216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023E8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7200" y="5852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Dashboard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377440" y="585216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023E8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77440" y="5852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Data Prep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97680" y="585216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023E8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0" y="5852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Training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17920" y="585216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023E8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0" y="5852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138160" y="585216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023E8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38160" y="5852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Compare All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058400" y="5852160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023E8A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058400" y="58521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0E0EF"/>
                </a:solidFill>
              </a:rPr>
              <a:t>Inference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6576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FA8C0"/>
                </a:solidFill>
              </a:rPr>
              <a:t>GUI Tabs (tkinter Notebook)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User Interface</a:t>
            </a:r>
            <a:endParaRPr lang="en-US" sz="2800" dirty="0"/>
          </a:p>
        </p:txBody>
      </p:sp>
      <p:pic>
        <p:nvPicPr>
          <p:cNvPr id="4" name="Image 0" descr="/home/claude/img4_datapre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" y="914400"/>
            <a:ext cx="11430000" cy="5577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A8C0"/>
                </a:solidFill>
              </a:rPr>
              <a:t>Data Preparation Tab — Scanning, Stratified Splits, Augmentation Config, Class Weight Calculation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2377440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4300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1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Directory Scan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scan_dataset() walks F:\processed_images supporting flat layout (filename-prefixed) and sub-folder layout. Collects paths per class.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005840"/>
            <a:ext cx="3657600" cy="2377440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143000"/>
            <a:ext cx="502920" cy="50292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2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Stratified Splits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43400" y="169164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make_stratified_splits() produces Train 75% · Val 15% · Test 10% per class. Random seed = 42 ensures reproducibility.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3566160"/>
            <a:ext cx="3657600" cy="2377440"/>
          </a:xfrm>
          <a:prstGeom prst="rect">
            <a:avLst/>
          </a:prstGeom>
          <a:solidFill>
            <a:srgbClr val="1630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83880" y="3703320"/>
            <a:ext cx="502920" cy="50292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6" name="Text 14"/>
          <p:cNvSpPr/>
          <p:nvPr/>
        </p:nvSpPr>
        <p:spPr>
          <a:xfrm>
            <a:off x="81838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3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778240" y="3749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Class Weights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83880" y="4251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compute_class_weights_inv_freq() calculates w_c = N_total / (N_classes × N_c) — rarer classes receive higher weights.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3657600" cy="2377440"/>
          </a:xfrm>
          <a:prstGeom prst="rect">
            <a:avLst/>
          </a:prstGeom>
          <a:solidFill>
            <a:srgbClr val="16304A"/>
          </a:solidFill>
          <a:ln w="1905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703320"/>
            <a:ext cx="502920" cy="502920"/>
          </a:xfrm>
          <a:prstGeom prst="ellipse">
            <a:avLst/>
          </a:prstGeom>
          <a:solidFill>
            <a:srgbClr val="A8DAD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4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7280" y="37490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DADC"/>
                </a:solidFill>
              </a:rPr>
              <a:t>TF Data Pipeline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251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build_tf_dataset() creates tf.data.Dataset with parallel map, shuffle, batch, and prefetch. AUTOTUNE parallelism.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6126480"/>
            <a:ext cx="3657600" cy="2377440"/>
          </a:xfrm>
          <a:prstGeom prst="rect">
            <a:avLst/>
          </a:prstGeom>
          <a:solidFill>
            <a:srgbClr val="16304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6263640"/>
            <a:ext cx="502920" cy="502920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6263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5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937760" y="6309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PyTorch Dataset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343400" y="68122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build_torch_dataset() uses torchvision.transforms with Resize, RandomHorizontalFlip, ColorJitter, Normalize (ImageNet mean/std).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6126480"/>
            <a:ext cx="3657600" cy="2377440"/>
          </a:xfrm>
          <a:prstGeom prst="rect">
            <a:avLst/>
          </a:prstGeom>
          <a:solidFill>
            <a:srgbClr val="16304A"/>
          </a:solidFill>
          <a:ln w="19050">
            <a:solidFill>
              <a:srgbClr val="C77D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83880" y="6263640"/>
            <a:ext cx="502920" cy="502920"/>
          </a:xfrm>
          <a:prstGeom prst="ellipse">
            <a:avLst/>
          </a:prstGeom>
          <a:solidFill>
            <a:srgbClr val="C77DFF"/>
          </a:solidFill>
          <a:ln/>
        </p:spPr>
      </p:sp>
      <p:sp>
        <p:nvSpPr>
          <p:cNvPr id="31" name="Text 29"/>
          <p:cNvSpPr/>
          <p:nvPr/>
        </p:nvSpPr>
        <p:spPr>
          <a:xfrm>
            <a:off x="8183880" y="6263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6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778240" y="63093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DFF"/>
                </a:solidFill>
              </a:rPr>
              <a:t>Manifest Saving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83880" y="681228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Splits saved to JSON manifests for reproducibility. Augmentation config written for downstream training runs.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Inverse-Frequency Class Weights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1430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Formula:    w_c  =  N_total  ÷  ( N_classes × N_c 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11430000" cy="41148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Class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Class Count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Weight  w_c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17830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Weight Bar (relative)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1430000" cy="5486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nv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0312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6,705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49040" y="21945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0.2134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230428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6" name="Shape 14"/>
          <p:cNvSpPr/>
          <p:nvPr/>
        </p:nvSpPr>
        <p:spPr>
          <a:xfrm>
            <a:off x="5486400" y="2304288"/>
            <a:ext cx="85859" cy="32918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788920"/>
            <a:ext cx="11430000" cy="54864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mel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03120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1,113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749040" y="27889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1.2855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0" y="289864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0" y="2898648"/>
            <a:ext cx="517203" cy="329184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383280"/>
            <a:ext cx="11430000" cy="5486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bkl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1,099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4904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1.3018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486400" y="349300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0" y="3493008"/>
            <a:ext cx="523761" cy="32918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9" name="Shape 27"/>
          <p:cNvSpPr/>
          <p:nvPr/>
        </p:nvSpPr>
        <p:spPr>
          <a:xfrm>
            <a:off x="365760" y="3977640"/>
            <a:ext cx="11430000" cy="54864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</a:rPr>
              <a:t>bcc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0312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514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749040" y="39776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</a:rPr>
              <a:t>2.7835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486400" y="408736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5486400" y="4087368"/>
            <a:ext cx="1119902" cy="32918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5" name="Shape 33"/>
          <p:cNvSpPr/>
          <p:nvPr/>
        </p:nvSpPr>
        <p:spPr>
          <a:xfrm>
            <a:off x="365760" y="4572000"/>
            <a:ext cx="11430000" cy="5486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572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akiec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103120" y="4572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327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3749040" y="45720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4.3753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86400" y="468172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0" name="Shape 38"/>
          <p:cNvSpPr/>
          <p:nvPr/>
        </p:nvSpPr>
        <p:spPr>
          <a:xfrm>
            <a:off x="5486400" y="4681728"/>
            <a:ext cx="1760341" cy="329184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1" name="Shape 39"/>
          <p:cNvSpPr/>
          <p:nvPr/>
        </p:nvSpPr>
        <p:spPr>
          <a:xfrm>
            <a:off x="365760" y="5166360"/>
            <a:ext cx="11430000" cy="54864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5166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DADC"/>
                </a:solidFill>
              </a:rPr>
              <a:t>vasc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2103120" y="5166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142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749040" y="5166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DADC"/>
                </a:solidFill>
              </a:rPr>
              <a:t>10.0755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486400" y="527608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6" name="Shape 44"/>
          <p:cNvSpPr/>
          <p:nvPr/>
        </p:nvSpPr>
        <p:spPr>
          <a:xfrm>
            <a:off x="5486400" y="5276088"/>
            <a:ext cx="4053736" cy="329184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47" name="Shape 45"/>
          <p:cNvSpPr/>
          <p:nvPr/>
        </p:nvSpPr>
        <p:spPr>
          <a:xfrm>
            <a:off x="365760" y="5760720"/>
            <a:ext cx="11430000" cy="548640"/>
          </a:xfrm>
          <a:prstGeom prst="rect">
            <a:avLst/>
          </a:prstGeom>
          <a:solidFill>
            <a:srgbClr val="16304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760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DFF"/>
                </a:solidFill>
              </a:rPr>
              <a:t>df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103120" y="5760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115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749040" y="57607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DFF"/>
                </a:solidFill>
              </a:rPr>
              <a:t>12.4410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486400" y="5870448"/>
            <a:ext cx="5029200" cy="329184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2" name="Shape 50"/>
          <p:cNvSpPr/>
          <p:nvPr/>
        </p:nvSpPr>
        <p:spPr>
          <a:xfrm>
            <a:off x="5486400" y="5870448"/>
            <a:ext cx="5005462" cy="329184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53" name="Text 51"/>
          <p:cNvSpPr/>
          <p:nvPr/>
        </p:nvSpPr>
        <p:spPr>
          <a:xfrm>
            <a:off x="365760" y="63550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A8C0"/>
                </a:solidFill>
              </a:rPr>
              <a:t>These weights are passed to CrossEntropyLoss / class_weight in model.fit() — as confirmed in the Data Prep output log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Strategy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576072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E0EF"/>
                </a:solidFill>
              </a:rPr>
              <a:t>Why Augmentation?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1. Skin lesions appear in arbitrary orientations — flipping and rotation simulate real clinical diversity.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69748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2. Color variations arise from different dermatoscope lighting and skin tones — ColorJitter and Brightness augmentation address this.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38862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3. Limited minority class samples are effectively multiplied via augmentation, reducing overfitting.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50749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4. Random Affine transformations add scale/shear variance consistent with camera angle differences.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0" y="914400"/>
            <a:ext cx="2926080" cy="173736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1005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↔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76656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</a:rPr>
              <a:t>H-Flip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3504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Horizontal mirror — doubles effective orientation coverage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52560" y="914400"/>
            <a:ext cx="2926080" cy="1737360"/>
          </a:xfrm>
          <a:prstGeom prst="rect">
            <a:avLst/>
          </a:prstGeom>
          <a:solidFill>
            <a:srgbClr val="112233"/>
          </a:solidFill>
          <a:ln w="1905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100584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↕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87552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V-Flip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144000" y="16002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Vertical mirror — critical for dorsal/plantar lesion orientation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0" y="2834640"/>
            <a:ext cx="2926080" cy="1737360"/>
          </a:xfrm>
          <a:prstGeom prst="rect">
            <a:avLst/>
          </a:prstGeom>
          <a:solidFill>
            <a:srgbClr val="112233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2926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↻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76656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D166"/>
                </a:solidFill>
              </a:rPr>
              <a:t>Rotation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35040" y="3520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Random rot 0–360° — lesions have no canonical orientation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52560" y="2834640"/>
            <a:ext cx="2926080" cy="1737360"/>
          </a:xfrm>
          <a:prstGeom prst="rect">
            <a:avLst/>
          </a:prstGeom>
          <a:solidFill>
            <a:srgbClr val="112233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52560" y="2926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🎨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87552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76F"/>
                </a:solidFill>
              </a:rPr>
              <a:t>ColorJitter</a:t>
            </a: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144000" y="35204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Hue ±4%, Saturation ±25%, Contrast ±25%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4754880"/>
            <a:ext cx="2926080" cy="1737360"/>
          </a:xfrm>
          <a:prstGeom prst="rect">
            <a:avLst/>
          </a:prstGeom>
          <a:solidFill>
            <a:srgbClr val="112233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0" y="4846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⌂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76656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6D6A0"/>
                </a:solidFill>
              </a:rPr>
              <a:t>RandomAffine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035040" y="5440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Scale, shear, translate — simulates camera angle variance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52560" y="4754880"/>
            <a:ext cx="2926080" cy="1737360"/>
          </a:xfrm>
          <a:prstGeom prst="rect">
            <a:avLst/>
          </a:prstGeom>
          <a:solidFill>
            <a:srgbClr val="112233"/>
          </a:solidFill>
          <a:ln w="1905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52560" y="48463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☀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87552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A8DADC"/>
                </a:solidFill>
              </a:rPr>
              <a:t>Brightness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9144000" y="5440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8"/>
                </a:solidFill>
              </a:rPr>
              <a:t>Random ±25% brightness — handles illumination differences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Backbone Architectures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749040" cy="5760720"/>
          </a:xfrm>
          <a:prstGeom prst="rect">
            <a:avLst/>
          </a:prstGeom>
          <a:solidFill>
            <a:srgbClr val="1630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3749040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</a:rPr>
              <a:t>EfficientNetB3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12M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Params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0020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0020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82.1%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60020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ImageNet Top-1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8892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D8"/>
                </a:solidFill>
              </a:rPr>
              <a:t>224×224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78892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Input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Compound-scaled CNN from Google Brain (2019). Uses compound coefficients to uniformly scale depth, width, and resolution. MBConv blocks with Squeeze-and-Excitation optimize both accuracy and efficiency.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434340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15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Compound Scaling (φ)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484632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818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MBConv Blocks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02920" y="534924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21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Squeeze-and-Excitation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585216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824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Depthwise Separable Conv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1960" y="914400"/>
            <a:ext cx="3749040" cy="5760720"/>
          </a:xfrm>
          <a:prstGeom prst="rect">
            <a:avLst/>
          </a:prstGeom>
          <a:solidFill>
            <a:srgbClr val="1630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51960" y="914400"/>
            <a:ext cx="3749040" cy="5486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251960" y="914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</a:rPr>
              <a:t>ResNet-50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434340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25M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34340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Params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53212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80.4%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53212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ImageNet Top-1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2084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</a:rPr>
              <a:t>224×224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72084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Input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89120" y="25146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Residual Networks (He et al. 2016). Introduces skip connections that enable training of very deep networks by addressing the vanishing gradient problem. 50-layer bottleneck variant.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434840" y="434340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9" name="Text 37"/>
          <p:cNvSpPr/>
          <p:nvPr/>
        </p:nvSpPr>
        <p:spPr>
          <a:xfrm>
            <a:off x="4663440" y="4315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Skip Connections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434840" y="484632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Text 39"/>
          <p:cNvSpPr/>
          <p:nvPr/>
        </p:nvSpPr>
        <p:spPr>
          <a:xfrm>
            <a:off x="4663440" y="4818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Bottleneck Blocks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434840" y="534924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3" name="Text 41"/>
          <p:cNvSpPr/>
          <p:nvPr/>
        </p:nvSpPr>
        <p:spPr>
          <a:xfrm>
            <a:off x="4663440" y="5321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Batch Normalization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34840" y="585216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5" name="Text 43"/>
          <p:cNvSpPr/>
          <p:nvPr/>
        </p:nvSpPr>
        <p:spPr>
          <a:xfrm>
            <a:off x="4663440" y="5824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1×1 Conv Compression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83880" y="914400"/>
            <a:ext cx="3749040" cy="5760720"/>
          </a:xfrm>
          <a:prstGeom prst="rect">
            <a:avLst/>
          </a:prstGeom>
          <a:solidFill>
            <a:srgbClr val="16304A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83880" y="914400"/>
            <a:ext cx="3749040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8" name="Text 46"/>
          <p:cNvSpPr/>
          <p:nvPr/>
        </p:nvSpPr>
        <p:spPr>
          <a:xfrm>
            <a:off x="8183880" y="9144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B2A"/>
                </a:solidFill>
              </a:rPr>
              <a:t>EfficientNetB0</a:t>
            </a:r>
            <a:endParaRPr lang="en-US" sz="2800" dirty="0"/>
          </a:p>
        </p:txBody>
      </p:sp>
      <p:sp>
        <p:nvSpPr>
          <p:cNvPr id="49" name="Shape 47"/>
          <p:cNvSpPr/>
          <p:nvPr/>
        </p:nvSpPr>
        <p:spPr>
          <a:xfrm>
            <a:off x="827532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7532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D6A0"/>
                </a:solidFill>
              </a:rPr>
              <a:t>5.3M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827532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Params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46404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6404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D6A0"/>
                </a:solidFill>
              </a:rPr>
              <a:t>77.4%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46404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ImageNet Top-1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652760" y="1600200"/>
            <a:ext cx="1097280" cy="77724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652760" y="162763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D6A0"/>
                </a:solidFill>
              </a:rPr>
              <a:t>224×224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1065276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Input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321040" y="251460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Baseline EfficientNet architecture — smallest in the B-family. Lower parameter count makes it faster to train while still leveraging compound scaling. Used as efficiency baseline.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366760" y="4343400"/>
            <a:ext cx="164592" cy="16459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0" name="Text 58"/>
          <p:cNvSpPr/>
          <p:nvPr/>
        </p:nvSpPr>
        <p:spPr>
          <a:xfrm>
            <a:off x="8595360" y="43159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Lightweight (5.3M params)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66760" y="4846320"/>
            <a:ext cx="164592" cy="16459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2" name="Text 60"/>
          <p:cNvSpPr/>
          <p:nvPr/>
        </p:nvSpPr>
        <p:spPr>
          <a:xfrm>
            <a:off x="8595360" y="48188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Fast Inference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66760" y="5349240"/>
            <a:ext cx="164592" cy="16459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4" name="Text 62"/>
          <p:cNvSpPr/>
          <p:nvPr/>
        </p:nvSpPr>
        <p:spPr>
          <a:xfrm>
            <a:off x="8595360" y="53218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MBConv Baseline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366760" y="5852160"/>
            <a:ext cx="164592" cy="164592"/>
          </a:xfrm>
          <a:prstGeom prst="ellipse">
            <a:avLst/>
          </a:prstGeom>
          <a:solidFill>
            <a:srgbClr val="06D6A0"/>
          </a:solidFill>
          <a:ln/>
        </p:spPr>
      </p:sp>
      <p:sp>
        <p:nvSpPr>
          <p:cNvPr id="66" name="Text 64"/>
          <p:cNvSpPr/>
          <p:nvPr/>
        </p:nvSpPr>
        <p:spPr>
          <a:xfrm>
            <a:off x="8595360" y="5824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224×224 Input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Strategy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00" cy="1280160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280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1. ImageNet Pre-training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Backbone loaded with weights from ImageNet (1.2M images, 1000 classes). Low-level features (edges, textures) are already learned.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6400800" cy="1280160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77440"/>
            <a:ext cx="91440" cy="128016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2. Feature Extractor Freeze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Initial epochs: backbone frozen, only custom head trained. Prevents catastrophic forgetting of pre-trained representations.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794760"/>
            <a:ext cx="6400800" cy="1280160"/>
          </a:xfrm>
          <a:prstGeom prst="rect">
            <a:avLst/>
          </a:prstGeom>
          <a:solidFill>
            <a:srgbClr val="1630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94760"/>
            <a:ext cx="91440" cy="128016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8620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76F"/>
                </a:solidFill>
              </a:rPr>
              <a:t>3. Fine-tuning Phase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425196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Gradual unfreezing of later backbone layers. Adam optimizer with lr=0.0001 and CosineAnnealing scheduler.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5212080"/>
            <a:ext cx="6400800" cy="1280160"/>
          </a:xfrm>
          <a:prstGeom prst="rect">
            <a:avLst/>
          </a:prstGeom>
          <a:solidFill>
            <a:srgbClr val="16304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5212080"/>
            <a:ext cx="91440" cy="12801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0352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</a:rPr>
              <a:t>4. Custom Classification Head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6126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Global Average Pooling → Dense(512, ReLU) → Dropout(0.4) → Dense(7, Softmax) — 7 skin lesion classes.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0" y="914400"/>
            <a:ext cx="4480560" cy="576072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960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0E0EF"/>
                </a:solidFill>
              </a:rPr>
              <a:t>Model Architecture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589520" y="1463040"/>
            <a:ext cx="3931920" cy="822960"/>
          </a:xfrm>
          <a:prstGeom prst="rect">
            <a:avLst/>
          </a:prstGeom>
          <a:solidFill>
            <a:srgbClr val="112233"/>
          </a:solidFill>
          <a:ln w="19050">
            <a:solidFill>
              <a:srgbClr val="7FA8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4630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FA8C0"/>
                </a:solidFill>
              </a:rPr>
              <a:t>ImageNet Pre-trained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7FA8C0"/>
                </a:solidFill>
              </a:rPr>
              <a:t>Backbone (Frozen→Unfrozen)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72600" y="22402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↓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2423160"/>
            <a:ext cx="3931920" cy="50292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24231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Global Average Pooling 2D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72600" y="28803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589520" y="3063240"/>
            <a:ext cx="3931920" cy="502920"/>
          </a:xfrm>
          <a:prstGeom prst="rect">
            <a:avLst/>
          </a:prstGeom>
          <a:solidFill>
            <a:srgbClr val="112233"/>
          </a:solidFill>
          <a:ln w="19050">
            <a:solidFill>
              <a:srgbClr val="90E0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0E0EF"/>
                </a:solidFill>
              </a:rPr>
              <a:t>Dense(512) + ReLU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72600" y="35204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↓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589520" y="3703320"/>
            <a:ext cx="3931920" cy="502920"/>
          </a:xfrm>
          <a:prstGeom prst="rect">
            <a:avLst/>
          </a:prstGeom>
          <a:solidFill>
            <a:srgbClr val="112233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166"/>
                </a:solidFill>
              </a:rPr>
              <a:t>Dropout(0.4)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72600" y="41605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↓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589520" y="4343400"/>
            <a:ext cx="3931920" cy="502920"/>
          </a:xfrm>
          <a:prstGeom prst="rect">
            <a:avLst/>
          </a:prstGeom>
          <a:solidFill>
            <a:srgbClr val="112233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</a:rPr>
              <a:t>Dense(7) + Softmax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372600" y="4800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</a:rPr>
              <a:t>↓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7589520" y="4983480"/>
            <a:ext cx="3931920" cy="502920"/>
          </a:xfrm>
          <a:prstGeom prst="rect">
            <a:avLst/>
          </a:prstGeom>
          <a:solidFill>
            <a:srgbClr val="112233"/>
          </a:solidFill>
          <a:ln w="19050">
            <a:solidFill>
              <a:srgbClr val="C77D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0" y="4983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7DFF"/>
                </a:solidFill>
              </a:rPr>
              <a:t>7 Class Probabilities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— Handling Class Imbalance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486400" cy="5760720"/>
          </a:xfrm>
          <a:prstGeom prst="rect">
            <a:avLst/>
          </a:prstGeom>
          <a:solidFill>
            <a:srgbClr val="16304A"/>
          </a:solidFill>
          <a:ln w="254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0" cy="5029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</a:rPr>
              <a:t>Focal Loss  (Primary)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</a:rPr>
              <a:t>FL(p_t) = -α_t · (1 - p_t)^γ · log(p_t)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64592" cy="16459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042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γ (gamma) = 2: Focuses training on hard, misclassified examples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64592" cy="16459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035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α_t = inverse-frequency class weight: Balances contribution of each class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164592" cy="16459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673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(1-p_t)^γ term: Down-weights easy examples automatically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26280"/>
            <a:ext cx="164592" cy="16459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988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Prevents the majority class (nv) from dominating training gradients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64592" cy="164592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2303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Particularly effective for melanoma detection — high-stakes minority class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914400"/>
            <a:ext cx="5486400" cy="5760720"/>
          </a:xfrm>
          <a:prstGeom prst="rect">
            <a:avLst/>
          </a:prstGeom>
          <a:solidFill>
            <a:srgbClr val="1630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914400"/>
            <a:ext cx="548640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914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1B2A"/>
                </a:solidFill>
              </a:rPr>
              <a:t>Weighted Cross-Entropy  (Alternative)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92240" y="155448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L = -Σ w_c · y_c · log(p_c)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92240" y="233172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23042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w_c = inverse-frequency weight per class (shown in Data Prep tab)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92240" y="306324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3035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Standard approach for multi-class imbalance problems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492240" y="379476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37673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Directly penalizes misclassification of rare classes more heavily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2240" y="452628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29" name="Text 27"/>
          <p:cNvSpPr/>
          <p:nvPr/>
        </p:nvSpPr>
        <p:spPr>
          <a:xfrm>
            <a:off x="6766560" y="44988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Passed as class_weight parameter in TensorFlow model.fit()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92240" y="5257800"/>
            <a:ext cx="164592" cy="16459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1" name="Text 29"/>
          <p:cNvSpPr/>
          <p:nvPr/>
        </p:nvSpPr>
        <p:spPr>
          <a:xfrm>
            <a:off x="6766560" y="52303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F4F8"/>
                </a:solidFill>
              </a:rPr>
              <a:t>PyTorch: torch.nn.CrossEntropyLoss(weight=class_weights_tensor)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73152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Backbone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30352" y="135331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EfficientNetB3 / ResNet-50 / EfficientNetB0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92808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92808"/>
            <a:ext cx="73152" cy="84124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938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Framework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" y="22860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PyTorch (Mock) / TensorFlow — selectable at runtime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25496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825496"/>
            <a:ext cx="73152" cy="8412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8712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Optimizer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" y="32186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Adam (β₁=0.9, β₂=0.999, ε=1e-8)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758184"/>
            <a:ext cx="73152" cy="84124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" y="3803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76F"/>
                </a:solidFill>
              </a:rPr>
              <a:t>Loss Function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" y="41513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Focal Loss (γ=2) with Inverse-Frequency Weights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690872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690872"/>
            <a:ext cx="73152" cy="8412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736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LR Scheduler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" y="508406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CosineAnnealing — smooth lr decay to near-zero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5623560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A8DA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623560"/>
            <a:ext cx="73152" cy="841248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5669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DADC"/>
                </a:solidFill>
              </a:rPr>
              <a:t>Epochs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" y="601675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30 — sufficient for convergence with pretrained backbone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960120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C77D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960120"/>
            <a:ext cx="73152" cy="841248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DFF"/>
                </a:solidFill>
              </a:rPr>
              <a:t>Batch Size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3952" y="135331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32 — balance between GPU memory and gradient stability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1892808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09360" y="1892808"/>
            <a:ext cx="73152" cy="8412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193852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Learning Rate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73952" y="2286000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0.0001 (1e-4) — conservative for fine-tuning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2825496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825496"/>
            <a:ext cx="73152" cy="841248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38" name="Text 36"/>
          <p:cNvSpPr/>
          <p:nvPr/>
        </p:nvSpPr>
        <p:spPr>
          <a:xfrm>
            <a:off x="6473952" y="28712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Dropout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3952" y="3218688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0.4 — applied after Dense(512) to prevent overfitting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09360" y="3758184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3758184"/>
            <a:ext cx="73152" cy="84124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3803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Image Size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73952" y="4151376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224×224 px — standard for ImageNet pre-trained models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309360" y="4690872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9360" y="4690872"/>
            <a:ext cx="73152" cy="8412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46" name="Text 44"/>
          <p:cNvSpPr/>
          <p:nvPr/>
        </p:nvSpPr>
        <p:spPr>
          <a:xfrm>
            <a:off x="6473952" y="47365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Class Weights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473952" y="5084064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Inverse-frequency: nv=0.21 → df=12.44 (enabled)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309360" y="5623560"/>
            <a:ext cx="5669280" cy="841248"/>
          </a:xfrm>
          <a:prstGeom prst="rect">
            <a:avLst/>
          </a:prstGeom>
          <a:solidFill>
            <a:srgbClr val="1630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09360" y="5623560"/>
            <a:ext cx="73152" cy="8412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0" name="Text 48"/>
          <p:cNvSpPr/>
          <p:nvPr/>
        </p:nvSpPr>
        <p:spPr>
          <a:xfrm>
            <a:off x="6473952" y="56692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Class Weights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73952" y="6016752"/>
            <a:ext cx="5394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Inverse-frequency: nv=0.21 → df=12.44 (enabled)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Monitoring — EfficientNetB3</a:t>
            </a:r>
            <a:endParaRPr lang="en-US" sz="3600" dirty="0"/>
          </a:p>
        </p:txBody>
      </p:sp>
      <p:pic>
        <p:nvPicPr>
          <p:cNvPr id="4" name="Image 0" descr="/home/claude/img1_efficientnetb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11612880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Live Training Metrics · Loss Curve · Accuracy Curve · Target Indicators — EfficientNetB3 @ Epoch 30/30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EfficientNetB3 (Best Model)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194560" cy="1371600"/>
          </a:xfrm>
          <a:prstGeom prst="rect">
            <a:avLst/>
          </a:prstGeom>
          <a:solidFill>
            <a:srgbClr val="1630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D166"/>
                </a:solidFill>
              </a:rPr>
              <a:t>0.0394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Train Loss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2194560" cy="1371600"/>
          </a:xfrm>
          <a:prstGeom prst="rect">
            <a:avLst/>
          </a:prstGeom>
          <a:solidFill>
            <a:srgbClr val="16304A"/>
          </a:solidFill>
          <a:ln w="254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76F"/>
                </a:solidFill>
              </a:rPr>
              <a:t>0.0560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Loss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0" y="914400"/>
            <a:ext cx="2194560" cy="1371600"/>
          </a:xfrm>
          <a:prstGeom prst="rect">
            <a:avLst/>
          </a:prstGeom>
          <a:solidFill>
            <a:srgbClr val="16304A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93776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6D6A0"/>
                </a:solidFill>
              </a:rPr>
              <a:t>0.9649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AUC-ROC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914400"/>
            <a:ext cx="2194560" cy="1371600"/>
          </a:xfrm>
          <a:prstGeom prst="rect">
            <a:avLst/>
          </a:prstGeom>
          <a:solidFill>
            <a:srgbClr val="1630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26948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0.9549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72694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F1 (wt)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0" y="914400"/>
            <a:ext cx="2194560" cy="1371600"/>
          </a:xfrm>
          <a:prstGeom prst="rect">
            <a:avLst/>
          </a:prstGeom>
          <a:solidFill>
            <a:srgbClr val="16304A"/>
          </a:solidFill>
          <a:ln w="254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01200" y="960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✅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9601200" y="14173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0E0EF"/>
                </a:solidFill>
              </a:rPr>
              <a:t>0.9723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60120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Accuracy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11612880" cy="502920"/>
          </a:xfrm>
          <a:prstGeom prst="rect">
            <a:avLst/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423160"/>
            <a:ext cx="11612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6D6A0"/>
                </a:solidFill>
              </a:rPr>
              <a:t>✔ AUC Target (&gt;0.88): MET      ✔ F1 Target (&gt;0.78): MET      ✔ Accuracy Target (&gt;0.85): MET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5760" y="30906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Final Epoch Training Log: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11430000" cy="2560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661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27/30  loss=0.0452  val_loss=0.0683  AUC=0.9634  F1=0.9527  Acc=0.9690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28/30  loss=0.0427  val_loss=0.0612  AUC=0.9635  F1=0.9533  Acc=0.9706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44805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29/30  loss=0.0410  val_loss=0.0589  AUC=0.9643  F1=0.9540  Acc=0.9712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48640" y="49377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30/30  loss=0.0394  val_loss=0.0560  AUC=0.9649  F1=0.9549  Acc=0.9723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Training complete. Best AUC=0.9649 | Best F1=0.9549 | Best Acc=0.9723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65760" y="61722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A8C0"/>
                </a:solidFill>
              </a:rPr>
              <a:t>All performance targets exceeded. Loss convergence confirmed. No overfitting — train/val gap &lt; 0.02.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Monitoring — ResNet-50</a:t>
            </a:r>
            <a:endParaRPr lang="en-US" sz="3600" dirty="0"/>
          </a:p>
        </p:txBody>
      </p:sp>
      <p:pic>
        <p:nvPicPr>
          <p:cNvPr id="4" name="Image 0" descr="/home/claude/img2_resnet5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11612880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ResNet-50 Training Results · Epoch 30/30 · AUC=0.9650 · F1=0.9546 · Acc=0.9722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ResNet-50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194560" cy="1188720"/>
          </a:xfrm>
          <a:prstGeom prst="rect">
            <a:avLst/>
          </a:prstGeom>
          <a:solidFill>
            <a:srgbClr val="1630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</a:rPr>
              <a:t>0.0403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Train Loss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914400"/>
            <a:ext cx="2194560" cy="1188720"/>
          </a:xfrm>
          <a:prstGeom prst="rect">
            <a:avLst/>
          </a:prstGeom>
          <a:solidFill>
            <a:srgbClr val="16304A"/>
          </a:solidFill>
          <a:ln w="254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960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76F"/>
                </a:solidFill>
              </a:rPr>
              <a:t>0.0569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Loss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914400"/>
            <a:ext cx="2194560" cy="1188720"/>
          </a:xfrm>
          <a:prstGeom prst="rect">
            <a:avLst/>
          </a:prstGeom>
          <a:solidFill>
            <a:srgbClr val="16304A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960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D6A0"/>
                </a:solidFill>
              </a:rPr>
              <a:t>0.9650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93776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AUC-ROC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269480" y="914400"/>
            <a:ext cx="2194560" cy="1188720"/>
          </a:xfrm>
          <a:prstGeom prst="rect">
            <a:avLst/>
          </a:prstGeom>
          <a:solidFill>
            <a:srgbClr val="1630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69480" y="960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0.9546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26948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F1 (wt)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01200" y="914400"/>
            <a:ext cx="2194560" cy="1188720"/>
          </a:xfrm>
          <a:prstGeom prst="rect">
            <a:avLst/>
          </a:prstGeom>
          <a:solidFill>
            <a:srgbClr val="16304A"/>
          </a:solidFill>
          <a:ln w="254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9601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0E0EF"/>
                </a:solidFill>
              </a:rPr>
              <a:t>0.9722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601200" y="1554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A8C0"/>
                </a:solidFill>
              </a:rPr>
              <a:t>Val 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11612880" cy="457200"/>
          </a:xfrm>
          <a:prstGeom prst="rect">
            <a:avLst/>
          </a:prstGeom>
          <a:solidFill>
            <a:srgbClr val="112233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240280"/>
            <a:ext cx="1161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D6A0"/>
                </a:solidFill>
              </a:rPr>
              <a:t>✔ AUC Target (&gt;0.88): MET      ✔ F1 Target (&gt;0.78): MET      ✔ Accuracy Target (&gt;0.85): MET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28346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Final Epoch Log: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218688"/>
            <a:ext cx="11430000" cy="2560320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101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27/30  loss=0.0449  val_loss=0.0669  AUC=0.9634  F1=0.9528  Acc=0.9691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37673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28/30  loss=0.0433  val_loss=0.0627  AUC=0.9636  F1=0.9534  Acc=0.9701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2245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29/30  loss=0.0420  val_loss=0.0586  AUC=0.9645  F1=0.9543  Acc=0.9713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46817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 30/30  loss=0.0403  val_loss=0.0569  AUC=0.9650  F1=0.9546  Acc=0.9722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513892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Training complete. Best AUC=0.9650 | Best F1=0.9546 | Best Acc=0.9722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5760" y="5943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FA8C0"/>
                </a:solidFill>
              </a:rPr>
              <a:t>ResNet-50 achieves marginally higher AUC (0.9650 vs 0.9649) but slightly higher loss. Practically equivalent performance to EfficientNetB3.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Monitoring — EfficientNetB0</a:t>
            </a:r>
            <a:endParaRPr lang="en-US" sz="2800" dirty="0"/>
          </a:p>
        </p:txBody>
      </p:sp>
      <p:pic>
        <p:nvPicPr>
          <p:cNvPr id="4" name="Image 0" descr="/home/claude/img3_efficientnetb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11612880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A8C0"/>
                </a:solidFill>
              </a:rPr>
              <a:t>EfficientNetB0 Training Results · Epoch 30/30 · AUC=0.9648 · F1=0.9548 · Acc=0.9724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Comparison — Compare All Tab</a:t>
            </a:r>
            <a:endParaRPr lang="en-US" sz="2800" dirty="0"/>
          </a:p>
        </p:txBody>
      </p:sp>
      <p:pic>
        <p:nvPicPr>
          <p:cNvPr id="4" name="Image 0" descr="/home/claude/img5_compareall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868680"/>
            <a:ext cx="11612880" cy="571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65653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A8C0"/>
                </a:solidFill>
              </a:rPr>
              <a:t>Sequential multi-backbone training · Final comparison table · Accuracy·Loss·AUC-ROC curves · Winner: EfficientNetB3 (Acc=0.9723)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Comparison — All Backbones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1430000" cy="502920"/>
          </a:xfrm>
          <a:prstGeom prst="rect">
            <a:avLst/>
          </a:prstGeom>
          <a:solidFill>
            <a:srgbClr val="023E8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Backbone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Accuracy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02336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AUC-ROC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914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F1-Score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914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Min Val Loss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418320" y="9144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Winner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11430000" cy="685800"/>
          </a:xfrm>
          <a:prstGeom prst="rect">
            <a:avLst/>
          </a:prstGeom>
          <a:solidFill>
            <a:srgbClr val="023E8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17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EfficientNetB3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77440" y="1417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0.9723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23360" y="1417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0.9651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69280" y="14173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0.9549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06640" y="141732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0.0567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0" y="141732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166"/>
                </a:solidFill>
              </a:rPr>
              <a:t>🏆 YES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194560"/>
            <a:ext cx="11430000" cy="685800"/>
          </a:xfrm>
          <a:prstGeom prst="rect">
            <a:avLst/>
          </a:prstGeom>
          <a:solidFill>
            <a:srgbClr val="16304A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19456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ResNet-50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377440" y="21945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0.9721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23360" y="21945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0.9651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69280" y="21945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0.9549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06640" y="219456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0.0561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18320" y="219456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A8C0"/>
                </a:solidFill>
              </a:rPr>
              <a:t>—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11430000" cy="685800"/>
          </a:xfrm>
          <a:prstGeom prst="rect">
            <a:avLst/>
          </a:prstGeom>
          <a:solidFill>
            <a:srgbClr val="16304A"/>
          </a:solidFill>
          <a:ln w="6350">
            <a:solidFill>
              <a:srgbClr val="06D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9718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EfficientNetB0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377440" y="2971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0.9721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023360" y="2971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0.9651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69280" y="297180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0.9548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2971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F4F8"/>
                </a:solidFill>
              </a:rPr>
              <a:t>0.0557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18320" y="297180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FA8C0"/>
                </a:solidFill>
              </a:rPr>
              <a:t>—</a:t>
            </a:r>
            <a:endParaRPr lang="en-US" sz="1600" dirty="0"/>
          </a:p>
        </p:txBody>
      </p:sp>
      <p:graphicFrame>
        <p:nvGraphicFramePr>
          <p:cNvPr id="32" name="Chart 0"/>
          <p:cNvGraphicFramePr/>
          <p:nvPr>
            <p:extLst>
              <p:ext uri="{D42A27DB-BD31-4B8C-83A1-F6EECF244321}">
                <p14:modId xmlns:p14="http://schemas.microsoft.com/office/powerpoint/2010/main" val="1490596710"/>
              </p:ext>
            </p:extLst>
          </p:nvPr>
        </p:nvGraphicFramePr>
        <p:xfrm>
          <a:off x="365760" y="3886200"/>
          <a:ext cx="114300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3" name="Shape 30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Deep-Dive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69280" cy="2606040"/>
          </a:xfrm>
          <a:prstGeom prst="rect">
            <a:avLst/>
          </a:prstGeom>
          <a:solidFill>
            <a:srgbClr val="16304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</a:rPr>
              <a:t>🎯  AUC-ROC (0.9651)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Area Under the Receiver Operating Characteristic Curve. Measures ability to discriminate between classes across all decision thresholds. 1.0 = perfect, 0.5 = random. Macro-averaged across all 7 classes. Target: &gt; 0.88.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48640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346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8C0"/>
                </a:solidFill>
              </a:rPr>
              <a:t>Clinical Relevance: Most important metric for clinical triage. High AUC means the model rarely confuses melanoma with benign lesions.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5669280" cy="2606040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46520" y="105156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⚡  Weighted F1-Score (0.9549)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46520" y="15087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Harmonic mean of Precision and Recall, weighted by class support. Balances both false positives and false negatives. Particularly critical for rare but dangerous classes like df and vasc. Target: &gt; 0.78.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788920"/>
            <a:ext cx="548640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83464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8C0"/>
                </a:solidFill>
              </a:rPr>
              <a:t>Clinical Relevance: Penalizes models that simply predict the majority class. Ensures minority class performance is captured.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5669280" cy="2606040"/>
          </a:xfrm>
          <a:prstGeom prst="rect">
            <a:avLst/>
          </a:prstGeom>
          <a:solidFill>
            <a:srgbClr val="16304A"/>
          </a:solidFill>
          <a:ln w="1905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8862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0E0EF"/>
                </a:solidFill>
              </a:rPr>
              <a:t>✅  Validation Accuracy (0.9723)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43434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Fraction of correctly classified validation samples. While intuitive, accuracy alone is misleading for imbalanced data (a model predicting nv for all samples gets 67% accuracy). Used alongside AUC and F1. Target: &gt; 0.85.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5623560"/>
            <a:ext cx="548640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669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8C0"/>
                </a:solidFill>
              </a:rPr>
              <a:t>Clinical Relevance: Confirmed genuine learning, not majority-class exploitation, because AUC and F1 both also meet targets simultaneously.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3794760"/>
            <a:ext cx="5669280" cy="2606040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388620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</a:rPr>
              <a:t>📉  Validation Loss (0.0560)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434340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Focal Loss value on the validation set at the final epoch. Smooth convergence curve with train/val gap &lt; 0.02 confirms no overfitting. CosineAnnealing LR scheduler contributed to stable convergence.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5623560"/>
            <a:ext cx="5486400" cy="685800"/>
          </a:xfrm>
          <a:prstGeom prst="rect">
            <a:avLst/>
          </a:prstGeom>
          <a:solidFill>
            <a:srgbClr val="112233"/>
          </a:solidFill>
          <a:ln w="6350">
            <a:solidFill>
              <a:srgbClr val="1E4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566928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A8C0"/>
                </a:solidFill>
              </a:rPr>
              <a:t>Clinical Relevance: Small train-val gap indicates good generalization. No early stopping triggered — model improved across all 30 epochs.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 — Code Architecture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669280" cy="1737360"/>
          </a:xfrm>
          <a:prstGeom prst="rect">
            <a:avLst/>
          </a:prstGeom>
          <a:solidFill>
            <a:srgbClr val="16304A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6984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6984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Sec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B4D8"/>
                </a:solidFill>
              </a:rPr>
              <a:t>TensorFlow Model Builder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4F8"/>
                </a:solidFill>
              </a:rPr>
              <a:t>build_tf_model(backbone, num_classes, dropout) — creates EfficientNetB3/ResNet-50 with custom head using Keras functional API.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309360" y="960120"/>
            <a:ext cx="5669280" cy="1737360"/>
          </a:xfrm>
          <a:prstGeom prst="rect">
            <a:avLst/>
          </a:prstGeom>
          <a:solidFill>
            <a:srgbClr val="16304A"/>
          </a:solidFill>
          <a:ln w="127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06984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90E0E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06984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Sec 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6948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0E0EF"/>
                </a:solidFill>
              </a:rPr>
              <a:t>PyTorch Model Builder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46520" y="155448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4F8"/>
                </a:solidFill>
              </a:rPr>
              <a:t>build_torch_model(backbone, num_classes, dropout) — wraps efficientnet_pytorch / torchvision.models with custom Linear layers.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5669280" cy="1737360"/>
          </a:xfrm>
          <a:prstGeom prst="rect">
            <a:avLst/>
          </a:prstGeom>
          <a:solidFill>
            <a:srgbClr val="16304A"/>
          </a:solidFill>
          <a:ln w="127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9008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9008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Sec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2588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D166"/>
                </a:solidFill>
              </a:rPr>
              <a:t>TensorFlow Trainer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2920" y="34747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4F8"/>
                </a:solidFill>
              </a:rPr>
              <a:t>train_tf_model() — compiles with Adam, Focal Loss, class_weight dict, CosineAnnealing callback. Returns per-epoch history.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309360" y="2880360"/>
            <a:ext cx="5669280" cy="1737360"/>
          </a:xfrm>
          <a:prstGeom prst="rect">
            <a:avLst/>
          </a:prstGeom>
          <a:solidFill>
            <a:srgbClr val="16304A"/>
          </a:solidFill>
          <a:ln w="127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99008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EF476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299008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Sec 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476F"/>
                </a:solidFill>
              </a:rPr>
              <a:t>PyTorch Trainer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46520" y="34747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4F8"/>
                </a:solidFill>
              </a:rPr>
              <a:t>train_torch_model() — training loop with tqdm progress, torch.optim.Adam, FocalLoss module, CosineAnnealingLR scheduler.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65760" y="4800600"/>
            <a:ext cx="5669280" cy="1737360"/>
          </a:xfrm>
          <a:prstGeom prst="rect">
            <a:avLst/>
          </a:prstGeom>
          <a:solidFill>
            <a:srgbClr val="16304A"/>
          </a:solidFill>
          <a:ln w="127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91032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91032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Sec 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258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D6A0"/>
                </a:solidFill>
              </a:rPr>
              <a:t>Metrics Calculation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502920" y="53949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4F8"/>
                </a:solidFill>
              </a:rPr>
              <a:t>compute_metrics() — calls sklearn.metrics for AUC-ROC (roc_auc_score, multi_class=ovr), F1 (f1_score, average=weighted), accuracy.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309360" y="4800600"/>
            <a:ext cx="5669280" cy="1737360"/>
          </a:xfrm>
          <a:prstGeom prst="rect">
            <a:avLst/>
          </a:prstGeom>
          <a:solidFill>
            <a:srgbClr val="16304A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910328"/>
            <a:ext cx="777240" cy="411480"/>
          </a:xfrm>
          <a:prstGeom prst="roundRect">
            <a:avLst>
              <a:gd name="adj" fmla="val 11111"/>
            </a:avLst>
          </a:prstGeom>
          <a:solidFill>
            <a:srgbClr val="A8DADC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491032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Sec 8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DADC"/>
                </a:solidFill>
              </a:rPr>
              <a:t>Dashboard Tab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6446520" y="53949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E8F4F8"/>
                </a:solidFill>
              </a:rPr>
              <a:t>Real-time metric cards, training progress log, live loss and accuracy curve charts using matplotlib embedded in tkinter Canvas.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Module — Real-Time Prediction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5943600" cy="1234440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4D8"/>
                </a:solidFill>
              </a:rPr>
              <a:t>Load Image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97280" y="14630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User selects dermoscopy image via file dialog. PIL.Image loaded and displayed at 240×190 px preview.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943600" cy="1234440"/>
          </a:xfrm>
          <a:prstGeom prst="rect">
            <a:avLst/>
          </a:prstGeom>
          <a:solidFill>
            <a:srgbClr val="16304A"/>
          </a:solidFill>
          <a:ln w="1905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697480"/>
            <a:ext cx="548640" cy="548640"/>
          </a:xfrm>
          <a:prstGeom prst="ellipse">
            <a:avLst/>
          </a:prstGeom>
          <a:solidFill>
            <a:srgbClr val="90E0E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468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90E0EF"/>
                </a:solidFill>
              </a:rPr>
              <a:t>Preprocessing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97280" y="28346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Image resized to 224×224, normalized with ImageNet mean/std. Converted to model input tensor.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5943600" cy="1234440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69080"/>
            <a:ext cx="548640" cy="54864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28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D166"/>
                </a:solidFill>
              </a:rPr>
              <a:t>Forward Pass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97280" y="42062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Selected backbone (EfficientNetB3 or ResNet-50) performs forward pass. Softmax output → 7 class probabilities.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5120640"/>
            <a:ext cx="5943600" cy="1234440"/>
          </a:xfrm>
          <a:prstGeom prst="rect">
            <a:avLst/>
          </a:prstGeom>
          <a:solidFill>
            <a:srgbClr val="16304A"/>
          </a:solidFill>
          <a:ln w="1905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5440680"/>
            <a:ext cx="548640" cy="54864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9728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76F"/>
                </a:solidFill>
              </a:rPr>
              <a:t>Risk Stratification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97280" y="55778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mel/bcc → HIGH RISK · akiec → MEDIUM RISK · others → LOW RISK. Color-coded alert displayed.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75120" y="914400"/>
            <a:ext cx="5120640" cy="5760720"/>
          </a:xfrm>
          <a:prstGeom prst="rect">
            <a:avLst/>
          </a:prstGeom>
          <a:solidFill>
            <a:srgbClr val="16304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960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0E0EF"/>
                </a:solidFill>
              </a:rPr>
              <a:t>PREDICTION OUTPUT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675120" y="14630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</a:rPr>
              <a:t>Melanocytic Nevus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675120" y="210312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A8C0"/>
                </a:solidFill>
              </a:rPr>
              <a:t>Confidence: 42.3%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66560" y="260604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nv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52360" y="2670048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0" name="Shape 28"/>
          <p:cNvSpPr/>
          <p:nvPr/>
        </p:nvSpPr>
        <p:spPr>
          <a:xfrm>
            <a:off x="7452360" y="2670048"/>
            <a:ext cx="1469807" cy="29260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1" name="Text 29"/>
          <p:cNvSpPr/>
          <p:nvPr/>
        </p:nvSpPr>
        <p:spPr>
          <a:xfrm>
            <a:off x="10972800" y="26060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42.3%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766560" y="308152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</a:rPr>
              <a:t>mel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452360" y="3145536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4" name="Shape 32"/>
          <p:cNvSpPr/>
          <p:nvPr/>
        </p:nvSpPr>
        <p:spPr>
          <a:xfrm>
            <a:off x="7452360" y="3145536"/>
            <a:ext cx="420441" cy="292608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35" name="Text 33"/>
          <p:cNvSpPr/>
          <p:nvPr/>
        </p:nvSpPr>
        <p:spPr>
          <a:xfrm>
            <a:off x="10972800" y="308152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12.1%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66560" y="3557016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bkl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52360" y="3621024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2360" y="3621024"/>
            <a:ext cx="649773" cy="2926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9" name="Text 37"/>
          <p:cNvSpPr/>
          <p:nvPr/>
        </p:nvSpPr>
        <p:spPr>
          <a:xfrm>
            <a:off x="10972800" y="3557016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18.7%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766560" y="4032504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</a:rPr>
              <a:t>bcc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52360" y="4096512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2" name="Shape 40"/>
          <p:cNvSpPr/>
          <p:nvPr/>
        </p:nvSpPr>
        <p:spPr>
          <a:xfrm>
            <a:off x="7452360" y="4096512"/>
            <a:ext cx="323149" cy="29260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3" name="Text 41"/>
          <p:cNvSpPr/>
          <p:nvPr/>
        </p:nvSpPr>
        <p:spPr>
          <a:xfrm>
            <a:off x="10972800" y="4032504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9.3%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766560" y="4507992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akiec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52360" y="4572000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46" name="Shape 44"/>
          <p:cNvSpPr/>
          <p:nvPr/>
        </p:nvSpPr>
        <p:spPr>
          <a:xfrm>
            <a:off x="7452360" y="4572000"/>
            <a:ext cx="284927" cy="2926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47" name="Text 45"/>
          <p:cNvSpPr/>
          <p:nvPr/>
        </p:nvSpPr>
        <p:spPr>
          <a:xfrm>
            <a:off x="10972800" y="4507992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8.2%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766560" y="4983480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8DADC"/>
                </a:solidFill>
              </a:rPr>
              <a:t>vasc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452360" y="5047488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0" name="Shape 48"/>
          <p:cNvSpPr/>
          <p:nvPr/>
        </p:nvSpPr>
        <p:spPr>
          <a:xfrm>
            <a:off x="7452360" y="5047488"/>
            <a:ext cx="194584" cy="292608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51" name="Text 49"/>
          <p:cNvSpPr/>
          <p:nvPr/>
        </p:nvSpPr>
        <p:spPr>
          <a:xfrm>
            <a:off x="10972800" y="49834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5.6%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766560" y="5458968"/>
            <a:ext cx="640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77DFF"/>
                </a:solidFill>
              </a:rPr>
              <a:t>df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452360" y="5522976"/>
            <a:ext cx="3474720" cy="292608"/>
          </a:xfrm>
          <a:prstGeom prst="rect">
            <a:avLst/>
          </a:prstGeom>
          <a:solidFill>
            <a:srgbClr val="112233"/>
          </a:solidFill>
          <a:ln/>
        </p:spPr>
      </p:sp>
      <p:sp>
        <p:nvSpPr>
          <p:cNvPr id="54" name="Shape 52"/>
          <p:cNvSpPr/>
          <p:nvPr/>
        </p:nvSpPr>
        <p:spPr>
          <a:xfrm>
            <a:off x="7452360" y="5522976"/>
            <a:ext cx="132039" cy="292608"/>
          </a:xfrm>
          <a:prstGeom prst="rect">
            <a:avLst/>
          </a:prstGeom>
          <a:solidFill>
            <a:srgbClr val="C77DFF"/>
          </a:solidFill>
          <a:ln/>
        </p:spPr>
      </p:sp>
      <p:sp>
        <p:nvSpPr>
          <p:cNvPr id="55" name="Text 53"/>
          <p:cNvSpPr/>
          <p:nvPr/>
        </p:nvSpPr>
        <p:spPr>
          <a:xfrm>
            <a:off x="10972800" y="5458968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8"/>
                </a:solidFill>
              </a:rPr>
              <a:t>3.8%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858000" y="6035040"/>
            <a:ext cx="475488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0" y="6035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✔ LOW RISK — Likely benign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Application — 6 Functional Tabs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374904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374904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📊 Dashboard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11480" y="15544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554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</a:rPr>
              <a:t>Sec 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Model performance summary. Best metrics card, class distribution chart, dataset overview. First screen on app launch.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51960" y="960120"/>
            <a:ext cx="374904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960120"/>
            <a:ext cx="3749040" cy="502920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960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🗂 Data Prep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43400" y="15544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1554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0E0EF"/>
                </a:solidFill>
              </a:rPr>
              <a:t>Sec 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389120" y="196596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Configure data directory, image size, splits, batch size. Launch dataset scan, stratified splits, and class weight computation.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960120"/>
            <a:ext cx="374904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960120"/>
            <a:ext cx="374904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960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🏋 Training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275320" y="15544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8275320" y="15544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</a:rPr>
              <a:t>Sec 10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21040" y="196596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Backbone and hyperparameter selection. Real-time training with live loss/accuracy charts. Epoch-by-epoch log.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3703320"/>
            <a:ext cx="374904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EF476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703320"/>
            <a:ext cx="3749040" cy="5029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📈 Evaluation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297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</a:rPr>
              <a:t>Sec 11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Post-training model evaluation. Confusion matrix, per-class metrics, ROC curves, calibration plots on test split.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51960" y="3703320"/>
            <a:ext cx="374904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3703320"/>
            <a:ext cx="3749040" cy="502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0" name="Text 28"/>
          <p:cNvSpPr/>
          <p:nvPr/>
        </p:nvSpPr>
        <p:spPr>
          <a:xfrm>
            <a:off x="425196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🏆 Compare All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343400" y="42976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/>
        </p:spPr>
      </p:sp>
      <p:sp>
        <p:nvSpPr>
          <p:cNvPr id="32" name="Text 30"/>
          <p:cNvSpPr/>
          <p:nvPr/>
        </p:nvSpPr>
        <p:spPr>
          <a:xfrm>
            <a:off x="4343400" y="4297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</a:rPr>
              <a:t>Sec 11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389120" y="470916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Sequential multi-backbone benchmark. Trains all selected backbones and renders final comparison table and charts.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83880" y="3703320"/>
            <a:ext cx="374904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83880" y="3703320"/>
            <a:ext cx="3749040" cy="502920"/>
          </a:xfrm>
          <a:prstGeom prst="rect">
            <a:avLst/>
          </a:prstGeom>
          <a:solidFill>
            <a:srgbClr val="A8DADC"/>
          </a:solidFill>
          <a:ln/>
        </p:spPr>
      </p:sp>
      <p:sp>
        <p:nvSpPr>
          <p:cNvPr id="36" name="Text 34"/>
          <p:cNvSpPr/>
          <p:nvPr/>
        </p:nvSpPr>
        <p:spPr>
          <a:xfrm>
            <a:off x="818388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🔍 Inference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8275320" y="4297680"/>
            <a:ext cx="685800" cy="320040"/>
          </a:xfrm>
          <a:prstGeom prst="roundRect">
            <a:avLst>
              <a:gd name="adj" fmla="val 14286"/>
            </a:avLst>
          </a:prstGeom>
          <a:solidFill>
            <a:srgbClr val="112233"/>
          </a:solidFill>
          <a:ln/>
        </p:spPr>
      </p:sp>
      <p:sp>
        <p:nvSpPr>
          <p:cNvPr id="38" name="Text 36"/>
          <p:cNvSpPr/>
          <p:nvPr/>
        </p:nvSpPr>
        <p:spPr>
          <a:xfrm>
            <a:off x="8275320" y="4297680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8DADC"/>
                </a:solidFill>
              </a:rPr>
              <a:t>Sec 12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21040" y="4709160"/>
            <a:ext cx="34747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Load a skin lesion image, run prediction, view softmax probabilities for all 7 classes, and receive risk stratification.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Key Findings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858000" cy="1261872"/>
          </a:xfrm>
          <a:prstGeom prst="rect">
            <a:avLst/>
          </a:prstGeom>
          <a:solidFill>
            <a:srgbClr val="16304A"/>
          </a:solidFill>
          <a:ln w="1905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91440" cy="12618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D6A0"/>
                </a:solidFill>
              </a:rPr>
              <a:t>All Performance Targets Exceeded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AUC-ROC: 0.9651 &gt; 0.88 ✔   F1-Score: 0.9549 &gt; 0.78 ✔   Accuracy: 97.23% &gt; 85% ✔ — across all three backbone models tested.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50008"/>
            <a:ext cx="6858000" cy="1261872"/>
          </a:xfrm>
          <a:prstGeom prst="rect">
            <a:avLst/>
          </a:prstGeom>
          <a:solidFill>
            <a:srgbClr val="16304A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350008"/>
            <a:ext cx="91440" cy="12618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41448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EfficientNetB3 Declared Winner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807208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Best Accuracy (0.9723) and highest F1 (0.9549). Only 12M parameters vs ResNet-50's 25M — more parameter-efficient.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739896"/>
            <a:ext cx="6858000" cy="1261872"/>
          </a:xfrm>
          <a:prstGeom prst="rect">
            <a:avLst/>
          </a:prstGeom>
          <a:solidFill>
            <a:srgbClr val="1630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739896"/>
            <a:ext cx="91440" cy="1261872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31336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</a:rPr>
              <a:t>Class Imbalance Effectively Mitigated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4197096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Inverse-frequency weights (nv=0.21 to df=12.44) combined with Focal Loss ensured minority classes (df, vasc) contributed meaningfully to training.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5129784"/>
            <a:ext cx="6858000" cy="1261872"/>
          </a:xfrm>
          <a:prstGeom prst="rect">
            <a:avLst/>
          </a:prstGeom>
          <a:solidFill>
            <a:srgbClr val="16304A"/>
          </a:solidFill>
          <a:ln w="1905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5129784"/>
            <a:ext cx="91440" cy="1261872"/>
          </a:xfrm>
          <a:prstGeom prst="rect">
            <a:avLst/>
          </a:prstGeom>
          <a:solidFill>
            <a:srgbClr val="90E0E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21224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E0EF"/>
                </a:solidFill>
              </a:rPr>
              <a:t>Convergence Quality Verified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586984"/>
            <a:ext cx="6583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4F8"/>
                </a:solidFill>
              </a:rPr>
              <a:t>Train/Val loss gap &lt; 0.02 at epoch 30. CosineAnnealing LR scheduler enabled smooth, stable convergence without oscillation.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89520" y="960120"/>
            <a:ext cx="210312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90E0E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89520" y="14173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0E0EF"/>
                </a:solidFill>
              </a:rPr>
              <a:t>97.23%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758952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Best Accuracy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(EfficientNetB3)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9829800" y="960120"/>
            <a:ext cx="210312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06D6A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829800" y="141732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6D6A0"/>
                </a:solidFill>
              </a:rPr>
              <a:t>0.9651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9829800" y="237744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AUC-ROC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(All backbones)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589520" y="3794760"/>
            <a:ext cx="210312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589520" y="4251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4D8"/>
                </a:solidFill>
              </a:rPr>
              <a:t>0.9549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589520" y="5212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Weighted F1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(EfficientNetB3)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9829800" y="3794760"/>
            <a:ext cx="2103120" cy="2514600"/>
          </a:xfrm>
          <a:prstGeom prst="rect">
            <a:avLst/>
          </a:prstGeom>
          <a:solidFill>
            <a:srgbClr val="16304A"/>
          </a:solidFill>
          <a:ln w="2540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829800" y="425196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166"/>
                </a:solidFill>
              </a:rPr>
              <a:t>3 / 3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9829800" y="521208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Targets Met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FA8C0"/>
                </a:solidFill>
              </a:rPr>
              <a:t>All Backbones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solidFill>
            <a:srgbClr val="112233"/>
          </a:solidFill>
          <a:ln w="6350">
            <a:solidFill>
              <a:srgbClr val="7FA8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6492240"/>
            <a:ext cx="11430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FA8C0"/>
                </a:solidFill>
              </a:rPr>
              <a:t>Future Work: Grad-CAM explainability · Ensemble of backbones · Real dermoscope deployment · ONNX export for mobile inference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Multi-Class Skin Lesion Classifier  ·  HAM10000  ·  EfficientNetB3  ·  PyTorch / TensorFlow  ·  Python 3.11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2918</Words>
  <Application>Microsoft Office PowerPoint</Application>
  <PresentationFormat>شاشة عريضة</PresentationFormat>
  <Paragraphs>502</Paragraphs>
  <Slides>25</Slides>
  <Notes>25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25</vt:i4>
      </vt:variant>
    </vt:vector>
  </HeadingPairs>
  <TitlesOfParts>
    <vt:vector size="29" baseType="lpstr">
      <vt:lpstr>Arial</vt:lpstr>
      <vt:lpstr>Calibri</vt:lpstr>
      <vt:lpstr>Consolas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Lesion Classifier — HAM10000</dc:title>
  <dc:subject>PptxGenJS Presentation</dc:subject>
  <dc:creator>AI Medical Imaging Research</dc:creator>
  <cp:lastModifiedBy>ashraf</cp:lastModifiedBy>
  <cp:revision>2</cp:revision>
  <dcterms:created xsi:type="dcterms:W3CDTF">2026-04-18T14:53:40Z</dcterms:created>
  <dcterms:modified xsi:type="dcterms:W3CDTF">2026-04-18T15:04:42Z</dcterms:modified>
</cp:coreProperties>
</file>